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4"/>
  </p:sldMasterIdLst>
  <p:notesMasterIdLst>
    <p:notesMasterId r:id="rId15"/>
  </p:notesMasterIdLst>
  <p:handoutMasterIdLst>
    <p:handoutMasterId r:id="rId16"/>
  </p:handoutMasterIdLst>
  <p:sldIdLst>
    <p:sldId id="1497" r:id="rId5"/>
    <p:sldId id="1514" r:id="rId6"/>
    <p:sldId id="1499" r:id="rId7"/>
    <p:sldId id="1500" r:id="rId8"/>
    <p:sldId id="1513" r:id="rId9"/>
    <p:sldId id="1502" r:id="rId10"/>
    <p:sldId id="1503" r:id="rId11"/>
    <p:sldId id="1507" r:id="rId12"/>
    <p:sldId id="1504" r:id="rId13"/>
    <p:sldId id="150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744DA4-8A4F-4141-AF8B-B86777A8C4F8}" v="659" dt="2026-07-27T18:06:19.841"/>
    <p1510:client id="{D7993F19-A4CA-4B76-9B8C-0A06DE2A343E}" v="1178" dt="2026-07-27T14:21:04.118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00" d="100"/>
          <a:sy n="100" d="100"/>
        </p:scale>
        <p:origin x="-106" y="-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712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2" y="4952601"/>
            <a:ext cx="10830797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2" y="5738985"/>
            <a:ext cx="10830798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845630E0-3E81-3871-9E2F-2BE123E898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8996" y="359053"/>
            <a:ext cx="11494008" cy="4206240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42F7524-ABFF-42FC-F524-246A480B8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63E3457-D591-49C3-2608-0E03890C5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CB6AF0-4147-00BA-8130-83977A07D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8E56F3-BB18-A73F-CD14-AABE06437C3B}"/>
              </a:ext>
            </a:extLst>
          </p:cNvPr>
          <p:cNvSpPr/>
          <p:nvPr userDrawn="1"/>
        </p:nvSpPr>
        <p:spPr>
          <a:xfrm>
            <a:off x="337457" y="4718958"/>
            <a:ext cx="11517086" cy="178797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5D6E84-74A7-91C9-E1B6-41ED8C509278}"/>
              </a:ext>
            </a:extLst>
          </p:cNvPr>
          <p:cNvSpPr/>
          <p:nvPr userDrawn="1"/>
        </p:nvSpPr>
        <p:spPr>
          <a:xfrm>
            <a:off x="337457" y="345676"/>
            <a:ext cx="11517086" cy="42245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021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11C59EC-2984-2AFC-A887-928F090FF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6" y="842464"/>
            <a:ext cx="10613572" cy="109945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657" y="2090057"/>
            <a:ext cx="10613572" cy="39678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76615-F428-46F8-B333-52721A2A1D31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26287E-A219-F520-0726-BDFF3D7A4E02}"/>
              </a:ext>
            </a:extLst>
          </p:cNvPr>
          <p:cNvSpPr/>
          <p:nvPr userDrawn="1"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88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4234" y="829577"/>
            <a:ext cx="4192166" cy="3775213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4233" y="4731335"/>
            <a:ext cx="4192166" cy="131228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791DC7E0-CBE1-A440-0537-4B3B9463522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9375" y="361188"/>
            <a:ext cx="6281928" cy="6135624"/>
          </a:xfrm>
          <a:blipFill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0CD339-777A-9749-4666-3527C14B9743}"/>
              </a:ext>
            </a:extLst>
          </p:cNvPr>
          <p:cNvSpPr/>
          <p:nvPr userDrawn="1"/>
        </p:nvSpPr>
        <p:spPr>
          <a:xfrm>
            <a:off x="6751530" y="351065"/>
            <a:ext cx="5097718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E67F68C-4D7B-717C-D360-0C7B177E78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62027BE-9356-D4CB-179D-26A5D76B3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DD4DA43-0E0A-52D7-598D-E21C37400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6EF7C5-69F2-91FF-0C1E-398B01AB0F98}"/>
              </a:ext>
            </a:extLst>
          </p:cNvPr>
          <p:cNvSpPr/>
          <p:nvPr userDrawn="1"/>
        </p:nvSpPr>
        <p:spPr>
          <a:xfrm>
            <a:off x="334788" y="353022"/>
            <a:ext cx="6300216" cy="61539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777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643E122-5107-B335-7270-B6C7A8395D86}"/>
              </a:ext>
            </a:extLst>
          </p:cNvPr>
          <p:cNvSpPr/>
          <p:nvPr userDrawn="1"/>
        </p:nvSpPr>
        <p:spPr>
          <a:xfrm>
            <a:off x="5744782" y="351064"/>
            <a:ext cx="6104466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9301" y="840278"/>
            <a:ext cx="4337407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300" y="4668118"/>
            <a:ext cx="4337407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710F4B22-F5AC-7D33-7A84-7B2436EFDEF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52063" y="361188"/>
            <a:ext cx="6089904" cy="6135624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D7A0B5-D7C9-90BE-F505-E01F4D062E28}"/>
              </a:ext>
            </a:extLst>
          </p:cNvPr>
          <p:cNvSpPr/>
          <p:nvPr userDrawn="1"/>
        </p:nvSpPr>
        <p:spPr>
          <a:xfrm>
            <a:off x="337457" y="351065"/>
            <a:ext cx="5282687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01F41629-C05C-09F2-6087-F8836305B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21E8832-F660-8A12-2B3C-B0368A840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20AF754-B09E-920F-08CC-F9E9A98778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172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A1944F5-72DB-5388-391B-5DC34BAD29A9}"/>
              </a:ext>
            </a:extLst>
          </p:cNvPr>
          <p:cNvSpPr/>
          <p:nvPr/>
        </p:nvSpPr>
        <p:spPr>
          <a:xfrm>
            <a:off x="1121981" y="874987"/>
            <a:ext cx="6584950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76" y="1359777"/>
            <a:ext cx="5880761" cy="3212224"/>
          </a:xfrm>
        </p:spPr>
        <p:txBody>
          <a:bodyPr anchor="t">
            <a:normAutofit/>
          </a:bodyPr>
          <a:lstStyle>
            <a:lvl1pPr algn="l">
              <a:defRPr sz="6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4076" y="4731335"/>
            <a:ext cx="5880761" cy="960017"/>
          </a:xfrm>
        </p:spPr>
        <p:txBody>
          <a:bodyPr anchor="b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55758" y="886968"/>
            <a:ext cx="3197543" cy="508406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7986531-74DA-0AB6-CF8A-3F7068E25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8ADF74-5A31-A27F-9559-8871D1067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751A81C-585C-BAAE-4A41-9A65B5606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E6AD98-B65B-93FA-EC0E-E737696918E7}"/>
              </a:ext>
            </a:extLst>
          </p:cNvPr>
          <p:cNvSpPr/>
          <p:nvPr userDrawn="1"/>
        </p:nvSpPr>
        <p:spPr>
          <a:xfrm>
            <a:off x="7845134" y="874986"/>
            <a:ext cx="3218791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313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528" y="839111"/>
            <a:ext cx="8001000" cy="3345328"/>
          </a:xfrm>
        </p:spPr>
        <p:txBody>
          <a:bodyPr anchor="t">
            <a:normAutofit/>
          </a:bodyPr>
          <a:lstStyle>
            <a:lvl1pPr algn="l">
              <a:defRPr sz="7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528" y="4473553"/>
            <a:ext cx="638120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D9461-0F61-4002-8F2D-B7697A0E13FF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6B6C7B-69BC-0D3D-1E9A-DD81FCE5A234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303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528" y="841248"/>
            <a:ext cx="7681495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528" y="4617138"/>
            <a:ext cx="723830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C53FF-A9D2-44F7-87E7-301150AC66D6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B6D5D4-CEEE-3117-A84B-7DE80FC18AFC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073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173C-F4FB-4840-9C6C-8C62F68E21A9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BE0B21-7B6E-C2E6-781E-44A2E68E10E4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522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E997385-2640-2459-FCDF-0C9E6AB66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76" y="1359776"/>
            <a:ext cx="7354238" cy="4331575"/>
          </a:xfrm>
        </p:spPr>
        <p:txBody>
          <a:bodyPr anchor="b">
            <a:normAutofit/>
          </a:bodyPr>
          <a:lstStyle>
            <a:lvl1pPr algn="l">
              <a:defRPr sz="6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58B209-D8FD-6B51-310A-96AE33AC1B63}"/>
              </a:ext>
            </a:extLst>
          </p:cNvPr>
          <p:cNvSpPr/>
          <p:nvPr/>
        </p:nvSpPr>
        <p:spPr>
          <a:xfrm>
            <a:off x="1121981" y="874987"/>
            <a:ext cx="9941944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1BBC1-8687-45A9-B22B-F61D547A780C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126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E997385-2640-2459-FCDF-0C9E6AB66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76" y="1359776"/>
            <a:ext cx="7402445" cy="4331575"/>
          </a:xfrm>
        </p:spPr>
        <p:txBody>
          <a:bodyPr anchor="t">
            <a:normAutofit/>
          </a:bodyPr>
          <a:lstStyle>
            <a:lvl1pPr algn="l">
              <a:defRPr sz="6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1BBC1-8687-45A9-B22B-F61D547A780C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58B209-D8FD-6B51-310A-96AE33AC1B63}"/>
              </a:ext>
            </a:extLst>
          </p:cNvPr>
          <p:cNvSpPr/>
          <p:nvPr/>
        </p:nvSpPr>
        <p:spPr>
          <a:xfrm>
            <a:off x="1121981" y="874987"/>
            <a:ext cx="9941944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398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841248"/>
            <a:ext cx="8931403" cy="138435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528" y="2333860"/>
            <a:ext cx="8931403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685800" indent="-4572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227F-7A38-4FCC-BBE5-462C6ABA0D7C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A7576B-FC6F-F402-D320-23CD0747AB61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459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AAB4670-578E-C407-B8FE-F50501B06177}"/>
              </a:ext>
            </a:extLst>
          </p:cNvPr>
          <p:cNvSpPr/>
          <p:nvPr/>
        </p:nvSpPr>
        <p:spPr>
          <a:xfrm>
            <a:off x="7845134" y="874986"/>
            <a:ext cx="3218791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5AED54-B0B3-D614-DEFD-5CE4799F522B}"/>
              </a:ext>
            </a:extLst>
          </p:cNvPr>
          <p:cNvSpPr/>
          <p:nvPr/>
        </p:nvSpPr>
        <p:spPr>
          <a:xfrm>
            <a:off x="1121981" y="874987"/>
            <a:ext cx="6584950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76" y="1166648"/>
            <a:ext cx="5880761" cy="452470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5881" y="1170041"/>
            <a:ext cx="2520697" cy="4521309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B9EE63E-BD4D-1B83-F683-7801D91371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498770"/>
            <a:ext cx="3494314" cy="359229"/>
          </a:xfrm>
        </p:spPr>
        <p:txBody>
          <a:bodyPr/>
          <a:lstStyle/>
          <a:p>
            <a:fld id="{080CD416-224D-4632-8302-C1A0B05C0690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CAD1074-17D3-EACF-F513-E49F6BCE5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85041" y="6498770"/>
            <a:ext cx="2805405" cy="35922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EBB2A2C-4AD0-A1F2-B3E1-342CC3F7E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0682" y="6498770"/>
            <a:ext cx="429207" cy="35922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626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4234" y="829577"/>
            <a:ext cx="4192166" cy="169399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D9C05904-FD8A-9AED-FEBF-07D02323D6F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9375" y="366631"/>
            <a:ext cx="6281928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04234" y="2637762"/>
            <a:ext cx="4192166" cy="341109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F087BA-BF9C-B6FF-3993-B14EFC993249}"/>
              </a:ext>
            </a:extLst>
          </p:cNvPr>
          <p:cNvSpPr/>
          <p:nvPr userDrawn="1"/>
        </p:nvSpPr>
        <p:spPr>
          <a:xfrm>
            <a:off x="6751530" y="351065"/>
            <a:ext cx="5097718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1E7D18D-B238-7331-A7C2-F04E7F4779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84BDBE8-3E10-FA13-9449-A3EA46117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3E5618F-FBE1-25BE-3EBC-6A699AAF8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05EF98-C9B4-FDE5-FF49-3AC91EBF7C80}"/>
              </a:ext>
            </a:extLst>
          </p:cNvPr>
          <p:cNvSpPr/>
          <p:nvPr userDrawn="1"/>
        </p:nvSpPr>
        <p:spPr>
          <a:xfrm>
            <a:off x="334788" y="353022"/>
            <a:ext cx="6300216" cy="61539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9622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640D-701E-4505-B3CF-EF9407231E3A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13DBF3-4834-1A3D-F4D5-6A81E4273385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958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58915-0BD2-4619-96F8-2000A958401A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955F4A-423A-5B89-7048-7BF27C7621C6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77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97C48-2090-4C6A-8BA6-AD652515C489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ADE99A-A1BB-22F1-AAC4-B9657638A2B1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719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82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5811837" cy="52643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18EB-E5A2-46FD-AE56-36A2660D9755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DAA8DC-86CE-2734-E308-CBA3FA9B61FB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4720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28" y="840740"/>
            <a:ext cx="3494314" cy="522351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40740"/>
            <a:ext cx="6884604" cy="5223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1F173-72DA-43D0-80E2-6EBC494B1FEF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615947-AD9C-F5FA-B88C-990D02D3AF2A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4142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EF6C452-604E-947A-0AE2-B0BEF7F21EB5}"/>
              </a:ext>
            </a:extLst>
          </p:cNvPr>
          <p:cNvSpPr/>
          <p:nvPr/>
        </p:nvSpPr>
        <p:spPr>
          <a:xfrm>
            <a:off x="1125028" y="874987"/>
            <a:ext cx="4901871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550A83-567F-A24D-E3C0-CE8EBAD06D18}"/>
              </a:ext>
            </a:extLst>
          </p:cNvPr>
          <p:cNvSpPr/>
          <p:nvPr/>
        </p:nvSpPr>
        <p:spPr>
          <a:xfrm>
            <a:off x="6162053" y="874987"/>
            <a:ext cx="4901871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EE06B6E-5DF9-040C-D813-282435432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77" y="1226152"/>
            <a:ext cx="4184248" cy="446519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38613CA7-3784-8161-0A2F-6AFEA3852D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11102" y="1226152"/>
            <a:ext cx="4187100" cy="4465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54E62BB-E63F-06C8-1E4D-D0DD69BCEE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498770"/>
            <a:ext cx="3494314" cy="359229"/>
          </a:xfrm>
        </p:spPr>
        <p:txBody>
          <a:bodyPr/>
          <a:lstStyle/>
          <a:p>
            <a:fld id="{080CD416-224D-4632-8302-C1A0B05C0690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3CA3E8-7834-A683-F512-C36DF114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85041" y="6498770"/>
            <a:ext cx="2805405" cy="35922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28609CD-1349-E1EF-8FD1-C055F29B9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0682" y="6498770"/>
            <a:ext cx="429207" cy="35922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83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949" y="819804"/>
            <a:ext cx="6022523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0A3C44E0-2181-679C-C4DE-7C0E12C689B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5956" y="361188"/>
            <a:ext cx="4434840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2341" y="2235200"/>
            <a:ext cx="6044132" cy="380299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A43DA6-AD92-1399-A6A7-42F89C87DC1A}"/>
              </a:ext>
            </a:extLst>
          </p:cNvPr>
          <p:cNvSpPr/>
          <p:nvPr userDrawn="1"/>
        </p:nvSpPr>
        <p:spPr>
          <a:xfrm>
            <a:off x="337457" y="351064"/>
            <a:ext cx="4451839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5664"/>
            <a:ext cx="3337584" cy="402336"/>
          </a:xfrm>
        </p:spPr>
        <p:txBody>
          <a:bodyPr/>
          <a:lstStyle/>
          <a:p>
            <a:fld id="{7E38CFF5-C5CE-48B3-B40D-6C66C1CC6368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4474DB-FD35-4937-0024-1F6311BC8B2F}"/>
              </a:ext>
            </a:extLst>
          </p:cNvPr>
          <p:cNvSpPr/>
          <p:nvPr userDrawn="1"/>
        </p:nvSpPr>
        <p:spPr>
          <a:xfrm>
            <a:off x="4915879" y="351065"/>
            <a:ext cx="6938663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424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08" y="826408"/>
            <a:ext cx="60225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34" y="2243328"/>
            <a:ext cx="6022524" cy="38055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13B8FE68-7B6E-3218-44A6-F1880E54EE8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01964" y="361186"/>
            <a:ext cx="4434840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9D2FFC-2E73-8E67-42FD-E85E9D7166B6}"/>
              </a:ext>
            </a:extLst>
          </p:cNvPr>
          <p:cNvSpPr/>
          <p:nvPr userDrawn="1"/>
        </p:nvSpPr>
        <p:spPr>
          <a:xfrm>
            <a:off x="337457" y="351065"/>
            <a:ext cx="6939845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52A7E0D9-1BA5-C290-01C0-9412D854A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DF8ECF4-AE04-DF19-C3BC-F2F3CC72B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E00847C9-B5C0-A857-1CCE-2B6CEFDC6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0B6AB1-45E0-8ED2-07D0-7F09A97072E8}"/>
              </a:ext>
            </a:extLst>
          </p:cNvPr>
          <p:cNvSpPr/>
          <p:nvPr userDrawn="1"/>
        </p:nvSpPr>
        <p:spPr>
          <a:xfrm>
            <a:off x="7392820" y="351063"/>
            <a:ext cx="4453128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1008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350" y="819005"/>
            <a:ext cx="6777828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5C69378E-FD50-D0FE-49E9-FE6939F87E0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7366" y="361188"/>
            <a:ext cx="3657600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3350" y="2032216"/>
            <a:ext cx="6777828" cy="40343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928F2E-550C-7EE7-5A6C-C30C820D21DB}"/>
              </a:ext>
            </a:extLst>
          </p:cNvPr>
          <p:cNvSpPr/>
          <p:nvPr userDrawn="1"/>
        </p:nvSpPr>
        <p:spPr>
          <a:xfrm>
            <a:off x="4155746" y="351065"/>
            <a:ext cx="7693502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9D0A219B-0B2E-ED64-E28B-7BC3826FD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8DFE40E1-5539-7791-9EC1-C0DD9509E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9B369AB-498B-00E7-8CC6-A9C08DBC7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DB15E2-0F9C-EDBB-3379-237D2F02B133}"/>
              </a:ext>
            </a:extLst>
          </p:cNvPr>
          <p:cNvSpPr/>
          <p:nvPr userDrawn="1"/>
        </p:nvSpPr>
        <p:spPr>
          <a:xfrm>
            <a:off x="348222" y="351064"/>
            <a:ext cx="3675888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694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7" y="829475"/>
            <a:ext cx="6714892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5527" y="2047532"/>
            <a:ext cx="6714892" cy="40013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4216C9-E47F-BA93-3528-3DC28359BBA5}"/>
              </a:ext>
            </a:extLst>
          </p:cNvPr>
          <p:cNvSpPr/>
          <p:nvPr userDrawn="1"/>
        </p:nvSpPr>
        <p:spPr>
          <a:xfrm>
            <a:off x="337457" y="351065"/>
            <a:ext cx="7631033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22729334-E74F-1D47-30E9-2040D0CCDE7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94185" y="356616"/>
            <a:ext cx="3739896" cy="6144768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EB550AF-60BA-6735-2DDA-FFBD5FF18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FBA6FCB-6EC8-5D26-12DE-87BB09604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D9D4586-9305-AF52-E112-43FE5D94C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05E7D9-8EB1-CCEE-CB59-564CC173739B}"/>
              </a:ext>
            </a:extLst>
          </p:cNvPr>
          <p:cNvSpPr/>
          <p:nvPr userDrawn="1"/>
        </p:nvSpPr>
        <p:spPr>
          <a:xfrm>
            <a:off x="8085041" y="351064"/>
            <a:ext cx="3758184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7826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4306" y="817137"/>
            <a:ext cx="4192166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42F0537-AA35-B27C-CAD5-3F9A4EAC920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9839" y="361188"/>
            <a:ext cx="6272784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79C53C-82C0-3F48-BA66-E452F8835C0C}"/>
              </a:ext>
            </a:extLst>
          </p:cNvPr>
          <p:cNvSpPr/>
          <p:nvPr userDrawn="1"/>
        </p:nvSpPr>
        <p:spPr>
          <a:xfrm>
            <a:off x="337458" y="351064"/>
            <a:ext cx="6297546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04234" y="2637763"/>
            <a:ext cx="4192899" cy="3411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29C0DC-4CF1-BF5F-9799-7F5EFFD594AE}"/>
              </a:ext>
            </a:extLst>
          </p:cNvPr>
          <p:cNvSpPr/>
          <p:nvPr userDrawn="1"/>
        </p:nvSpPr>
        <p:spPr>
          <a:xfrm>
            <a:off x="6751530" y="351065"/>
            <a:ext cx="5097718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1A90B4F9-3A1A-CDB5-1CB2-BED385A96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8891662-9D2F-4EC4-AE03-566C9F3947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2B7063A-A36F-DA54-7077-3632E0BF6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41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D9A0B94D-2DD1-875D-B541-D604110F2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372" y="817137"/>
            <a:ext cx="4337407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1D88E16-573F-A597-7EE7-887CF9D8D3F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9301" y="2637763"/>
            <a:ext cx="4338165" cy="3411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A972FDA-9B64-2E1F-84D9-B8941D9AC8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52063" y="361188"/>
            <a:ext cx="6089904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B7641C-0FEE-FC12-84B6-FDB399A2110B}"/>
              </a:ext>
            </a:extLst>
          </p:cNvPr>
          <p:cNvSpPr/>
          <p:nvPr userDrawn="1"/>
        </p:nvSpPr>
        <p:spPr>
          <a:xfrm>
            <a:off x="337457" y="351065"/>
            <a:ext cx="5282687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3AEF8BA8-2E40-E714-955D-062E0BBCB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3A8E821C-4EC8-D755-0604-1CF0267FE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EEE747D8-BFE4-9495-99CA-CDD56CDDA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92A368-511B-76F6-C241-598461CF9E5C}"/>
              </a:ext>
            </a:extLst>
          </p:cNvPr>
          <p:cNvSpPr/>
          <p:nvPr userDrawn="1"/>
        </p:nvSpPr>
        <p:spPr>
          <a:xfrm>
            <a:off x="5744782" y="351064"/>
            <a:ext cx="6104466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6618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826408"/>
            <a:ext cx="4301413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CA91B26-FF37-7619-CA98-3BF61F5687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7038" y="361188"/>
            <a:ext cx="6135624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9" y="2074889"/>
            <a:ext cx="4291584" cy="39739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55BAA1-304B-22B8-AFFB-450B8B12DD5E}"/>
              </a:ext>
            </a:extLst>
          </p:cNvPr>
          <p:cNvSpPr/>
          <p:nvPr userDrawn="1"/>
        </p:nvSpPr>
        <p:spPr>
          <a:xfrm>
            <a:off x="6615483" y="351065"/>
            <a:ext cx="5233765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0539A80-30AC-952B-3E78-12CE8F100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9B1685D-0E18-DE3D-4A15-F8A9204F6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927B2EF-831F-E054-7EDC-63858146B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E9085-3DE0-967D-6FEC-87A68F2E38F7}"/>
              </a:ext>
            </a:extLst>
          </p:cNvPr>
          <p:cNvSpPr/>
          <p:nvPr userDrawn="1"/>
        </p:nvSpPr>
        <p:spPr>
          <a:xfrm>
            <a:off x="337458" y="351064"/>
            <a:ext cx="6154784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467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5792E787-2C43-9150-BA2C-843318A1A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7" y="826408"/>
            <a:ext cx="4518609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BD289B8E-2849-E156-7279-DA72F5F75F0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111" y="2074889"/>
            <a:ext cx="4508284" cy="39739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8568F57-C775-4169-382D-FE2FEBDBAC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28508" y="366631"/>
            <a:ext cx="5907024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CDBE87-6A57-2D73-C222-305AF961B664}"/>
              </a:ext>
            </a:extLst>
          </p:cNvPr>
          <p:cNvSpPr/>
          <p:nvPr userDrawn="1"/>
        </p:nvSpPr>
        <p:spPr>
          <a:xfrm>
            <a:off x="337457" y="351065"/>
            <a:ext cx="5456769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5288E7B0-81D9-CCF8-EB05-EA8342A4B4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ED314F02-5973-4022-032A-218872D27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8E7BB9A-D434-3FEA-E3B3-0A99879BFF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7F243C-548D-9C48-60F5-BC8D58A018DE}"/>
              </a:ext>
            </a:extLst>
          </p:cNvPr>
          <p:cNvSpPr/>
          <p:nvPr userDrawn="1"/>
        </p:nvSpPr>
        <p:spPr>
          <a:xfrm>
            <a:off x="5914792" y="351065"/>
            <a:ext cx="593445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5302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158" y="839871"/>
            <a:ext cx="3227469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012F0A78-49FB-BB3A-242F-2924FAF4081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6601" y="361188"/>
            <a:ext cx="7232904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158" y="2665215"/>
            <a:ext cx="3227469" cy="33777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387906-ECDF-E20B-CA46-CDAD7F1BB419}"/>
              </a:ext>
            </a:extLst>
          </p:cNvPr>
          <p:cNvSpPr/>
          <p:nvPr userDrawn="1"/>
        </p:nvSpPr>
        <p:spPr>
          <a:xfrm>
            <a:off x="7707386" y="351065"/>
            <a:ext cx="4141862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F2227C39-491D-6560-D78F-CB7524A63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6C4DED5-FE13-1083-CC2D-42185971E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8FDBA055-F524-DC9E-E4E1-4529BA173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2198D5-C9C0-500B-4DBC-656F475E493C}"/>
              </a:ext>
            </a:extLst>
          </p:cNvPr>
          <p:cNvSpPr/>
          <p:nvPr userDrawn="1"/>
        </p:nvSpPr>
        <p:spPr>
          <a:xfrm>
            <a:off x="337457" y="351064"/>
            <a:ext cx="7251192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1131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DE08559-D5C4-B55F-FEE7-A549DCB41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7" y="839871"/>
            <a:ext cx="3374317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B5FEEF-AA1C-DF09-81DC-C263DDF653CF}"/>
              </a:ext>
            </a:extLst>
          </p:cNvPr>
          <p:cNvSpPr/>
          <p:nvPr userDrawn="1"/>
        </p:nvSpPr>
        <p:spPr>
          <a:xfrm>
            <a:off x="337457" y="351065"/>
            <a:ext cx="4300827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35C596C1-39CE-99AF-B795-8ADB489A7D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5527" y="2665215"/>
            <a:ext cx="3374317" cy="33777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5CC9C07-AB41-F534-28F4-4DB7C7C6A85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77943" y="366631"/>
            <a:ext cx="7059168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71282706-6A90-AC69-EED3-14EF89571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FBB56311-28CF-D46F-611E-BE7FC528C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62018A6C-F090-A3A6-828C-3B4C1F611A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239BDE-DD79-5CB8-2F90-0AED70B4C2F7}"/>
              </a:ext>
            </a:extLst>
          </p:cNvPr>
          <p:cNvSpPr/>
          <p:nvPr userDrawn="1"/>
        </p:nvSpPr>
        <p:spPr>
          <a:xfrm>
            <a:off x="4765806" y="351065"/>
            <a:ext cx="7083442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5424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DFB1570C-2A53-2BD0-0955-F14E33A43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9712" y="839871"/>
            <a:ext cx="3065002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9EDFF69E-D657-B8DE-43CD-6A0AA98FBA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6440" y="361188"/>
            <a:ext cx="7424928" cy="613562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778FDB-57BB-4A24-EB2F-31B3DCA2ED9F}"/>
              </a:ext>
            </a:extLst>
          </p:cNvPr>
          <p:cNvSpPr/>
          <p:nvPr userDrawn="1"/>
        </p:nvSpPr>
        <p:spPr>
          <a:xfrm>
            <a:off x="7904606" y="351065"/>
            <a:ext cx="3944642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Content Placeholder 7">
            <a:extLst>
              <a:ext uri="{FF2B5EF4-FFF2-40B4-BE49-F238E27FC236}">
                <a16:creationId xmlns:a16="http://schemas.microsoft.com/office/drawing/2014/main" id="{B52381D3-CD5D-B295-5DE8-247DE26D24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59712" y="2665215"/>
            <a:ext cx="3065002" cy="33777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090962EE-6183-2741-3A94-C8479C8F3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94C9BBAD-E4A0-3317-216F-5858C92CB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2195FBA7-A575-4D7C-73E3-07F6E976C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A87F64-B10E-D3EC-86DC-A74D615B4819}"/>
              </a:ext>
            </a:extLst>
          </p:cNvPr>
          <p:cNvSpPr/>
          <p:nvPr userDrawn="1"/>
        </p:nvSpPr>
        <p:spPr>
          <a:xfrm>
            <a:off x="337456" y="351064"/>
            <a:ext cx="7442897" cy="61558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48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7" y="5024647"/>
            <a:ext cx="3739896" cy="1207851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90F4507-3E12-8BCC-96C4-5E91E00DE05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8996" y="357974"/>
            <a:ext cx="11494008" cy="4270248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24647"/>
            <a:ext cx="6041938" cy="1207851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736FE-15B3-4F20-9261-F868C8825F0F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72880B-AEAD-196C-0715-91B527BD2668}"/>
              </a:ext>
            </a:extLst>
          </p:cNvPr>
          <p:cNvSpPr/>
          <p:nvPr userDrawn="1"/>
        </p:nvSpPr>
        <p:spPr>
          <a:xfrm>
            <a:off x="321733" y="4758374"/>
            <a:ext cx="11527515" cy="17485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CA5AC-C8BF-B7FA-04BB-F8A5A14F6F64}"/>
              </a:ext>
            </a:extLst>
          </p:cNvPr>
          <p:cNvSpPr/>
          <p:nvPr userDrawn="1"/>
        </p:nvSpPr>
        <p:spPr>
          <a:xfrm>
            <a:off x="337456" y="351064"/>
            <a:ext cx="11511792" cy="428406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7764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7" y="4336837"/>
            <a:ext cx="3739896" cy="1863698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90F4507-3E12-8BCC-96C4-5E91E00DE05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8996" y="358671"/>
            <a:ext cx="11494008" cy="3547872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336837"/>
            <a:ext cx="6041938" cy="186369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736FE-15B3-4F20-9261-F868C8825F0F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72880B-AEAD-196C-0715-91B527BD2668}"/>
              </a:ext>
            </a:extLst>
          </p:cNvPr>
          <p:cNvSpPr/>
          <p:nvPr userDrawn="1"/>
        </p:nvSpPr>
        <p:spPr>
          <a:xfrm>
            <a:off x="337456" y="4038600"/>
            <a:ext cx="11527515" cy="24683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541655-3554-4192-AE10-BB95B2B3FCA7}"/>
              </a:ext>
            </a:extLst>
          </p:cNvPr>
          <p:cNvSpPr/>
          <p:nvPr userDrawn="1"/>
        </p:nvSpPr>
        <p:spPr>
          <a:xfrm>
            <a:off x="339852" y="351064"/>
            <a:ext cx="11512296" cy="35630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4438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077" y="1240971"/>
            <a:ext cx="3277536" cy="963033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0662" y="1240971"/>
            <a:ext cx="5614213" cy="96303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4618C02D-A34B-FCF5-74D5-2AC6F33031B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26236" y="2719146"/>
            <a:ext cx="9921240" cy="3255264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792CFC36-C3EC-5779-AB81-CC4B05A487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498770"/>
            <a:ext cx="3494314" cy="359229"/>
          </a:xfrm>
        </p:spPr>
        <p:txBody>
          <a:bodyPr/>
          <a:lstStyle/>
          <a:p>
            <a:fld id="{838E7C52-89A1-4FAF-9408-82A97F69BEE9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1B647595-A471-5DA6-9074-5DACBEE5D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85041" y="6498770"/>
            <a:ext cx="2805405" cy="35922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48F12117-D5D7-397C-88DD-6C7EC5A4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0682" y="6498770"/>
            <a:ext cx="429207" cy="35922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FFC3B9-6393-BD5E-CBA3-4236EA91FEE4}"/>
              </a:ext>
            </a:extLst>
          </p:cNvPr>
          <p:cNvSpPr/>
          <p:nvPr userDrawn="1"/>
        </p:nvSpPr>
        <p:spPr>
          <a:xfrm>
            <a:off x="1121981" y="874987"/>
            <a:ext cx="9941944" cy="167771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761AA9-46EF-A61A-5772-FE92633CC2A2}"/>
              </a:ext>
            </a:extLst>
          </p:cNvPr>
          <p:cNvSpPr/>
          <p:nvPr userDrawn="1"/>
        </p:nvSpPr>
        <p:spPr>
          <a:xfrm>
            <a:off x="1126236" y="2710002"/>
            <a:ext cx="9939528" cy="32735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2255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89C2E73-8CB7-AB0A-D373-D9BCBE160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4740" y="1944079"/>
            <a:ext cx="6391656" cy="4553712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58567" y="2235200"/>
            <a:ext cx="4420788" cy="39581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31391-F4B8-4A23-8935-365F41031646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30DF84-4A5D-63C5-1700-34F6AA007632}"/>
              </a:ext>
            </a:extLst>
          </p:cNvPr>
          <p:cNvSpPr/>
          <p:nvPr userDrawn="1"/>
        </p:nvSpPr>
        <p:spPr>
          <a:xfrm flipV="1">
            <a:off x="337457" y="351062"/>
            <a:ext cx="11512296" cy="14650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9E6EAC-5CB1-AF25-6E5B-8E37D120C9B3}"/>
              </a:ext>
            </a:extLst>
          </p:cNvPr>
          <p:cNvSpPr/>
          <p:nvPr userDrawn="1"/>
        </p:nvSpPr>
        <p:spPr>
          <a:xfrm>
            <a:off x="339852" y="1929406"/>
            <a:ext cx="6421432" cy="45775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53CEAA-92AB-A832-438A-7F6ACCDFE1B4}"/>
              </a:ext>
            </a:extLst>
          </p:cNvPr>
          <p:cNvSpPr/>
          <p:nvPr userDrawn="1"/>
        </p:nvSpPr>
        <p:spPr>
          <a:xfrm>
            <a:off x="6874592" y="1929406"/>
            <a:ext cx="4975161" cy="45775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5164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959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E3DA23-DE55-6AE0-AF3B-E9803246C7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9324" y="2423719"/>
            <a:ext cx="5175504" cy="4069080"/>
          </a:xfrm>
          <a:blipFill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37402" y="599600"/>
            <a:ext cx="5633165" cy="56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8507B-3789-49BC-A5B5-D3B2B10E5F24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25B15E-907B-22E5-9483-591409F1460D}"/>
              </a:ext>
            </a:extLst>
          </p:cNvPr>
          <p:cNvSpPr/>
          <p:nvPr userDrawn="1"/>
        </p:nvSpPr>
        <p:spPr>
          <a:xfrm flipV="1">
            <a:off x="337457" y="351059"/>
            <a:ext cx="5199238" cy="19398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4643D3-05AA-D000-6F70-B39D3E837EF5}"/>
              </a:ext>
            </a:extLst>
          </p:cNvPr>
          <p:cNvSpPr/>
          <p:nvPr userDrawn="1"/>
        </p:nvSpPr>
        <p:spPr>
          <a:xfrm>
            <a:off x="5665293" y="351065"/>
            <a:ext cx="6189249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DB142-72B7-699F-6F87-2EFB2EBF3B22}"/>
              </a:ext>
            </a:extLst>
          </p:cNvPr>
          <p:cNvSpPr/>
          <p:nvPr userDrawn="1"/>
        </p:nvSpPr>
        <p:spPr>
          <a:xfrm flipV="1">
            <a:off x="337457" y="2409583"/>
            <a:ext cx="5199238" cy="40973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4200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9599"/>
            <a:ext cx="3946824" cy="145389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E3DA23-DE55-6AE0-AF3B-E9803246C7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9324" y="2423719"/>
            <a:ext cx="4476676" cy="4069080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20382" y="599600"/>
            <a:ext cx="6350185" cy="56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8507B-3789-49BC-A5B5-D3B2B10E5F24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25B15E-907B-22E5-9483-591409F1460D}"/>
              </a:ext>
            </a:extLst>
          </p:cNvPr>
          <p:cNvSpPr/>
          <p:nvPr userDrawn="1"/>
        </p:nvSpPr>
        <p:spPr>
          <a:xfrm flipV="1">
            <a:off x="337457" y="351058"/>
            <a:ext cx="4488543" cy="19398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4643D3-05AA-D000-6F70-B39D3E837EF5}"/>
              </a:ext>
            </a:extLst>
          </p:cNvPr>
          <p:cNvSpPr/>
          <p:nvPr userDrawn="1"/>
        </p:nvSpPr>
        <p:spPr>
          <a:xfrm>
            <a:off x="4939611" y="351065"/>
            <a:ext cx="6914932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DB142-72B7-699F-6F87-2EFB2EBF3B22}"/>
              </a:ext>
            </a:extLst>
          </p:cNvPr>
          <p:cNvSpPr/>
          <p:nvPr userDrawn="1"/>
        </p:nvSpPr>
        <p:spPr>
          <a:xfrm flipV="1">
            <a:off x="337457" y="2409583"/>
            <a:ext cx="4497205" cy="40973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11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7441" y="1359777"/>
            <a:ext cx="5880761" cy="1107198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6C1007D4-EB2E-ECF2-5254-C510166F0A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52328" y="886968"/>
            <a:ext cx="3197543" cy="5084064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B6F7D1A1-060A-C0EF-7365-61C0D96F44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7441" y="2631072"/>
            <a:ext cx="5880761" cy="306028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1944F5-72DB-5388-391B-5DC34BAD29A9}"/>
              </a:ext>
            </a:extLst>
          </p:cNvPr>
          <p:cNvSpPr/>
          <p:nvPr/>
        </p:nvSpPr>
        <p:spPr>
          <a:xfrm>
            <a:off x="4465346" y="874986"/>
            <a:ext cx="6584950" cy="511149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D322761-AD97-5EDC-DC4F-22AC765F3F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7" y="6498770"/>
            <a:ext cx="3494314" cy="359229"/>
          </a:xfrm>
        </p:spPr>
        <p:txBody>
          <a:bodyPr/>
          <a:lstStyle/>
          <a:p>
            <a:fld id="{080CD416-224D-4632-8302-C1A0B05C0690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3B1E02D-FA19-7D3D-06D7-B239D7211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85041" y="6498770"/>
            <a:ext cx="2805405" cy="35922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8603D8-B4FF-4EEF-D7E4-C16EE214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0682" y="6498770"/>
            <a:ext cx="429207" cy="35922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267190-6BE3-1105-A47B-925C2188D8D4}"/>
              </a:ext>
            </a:extLst>
          </p:cNvPr>
          <p:cNvSpPr/>
          <p:nvPr userDrawn="1"/>
        </p:nvSpPr>
        <p:spPr>
          <a:xfrm>
            <a:off x="1141704" y="874986"/>
            <a:ext cx="3218791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965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1C9C9AC-231F-A3D9-52AE-E521803C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723" y="4669972"/>
            <a:ext cx="8988551" cy="1088572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55D2680C-5363-8F4B-6FB7-E51E9E05C9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01724" y="1398813"/>
            <a:ext cx="8988552" cy="3145973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93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51461-EBBE-4007-A7FA-8D550B1815C8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0DE2B7-EB22-2F5C-EF67-76C44224FDB5}"/>
              </a:ext>
            </a:extLst>
          </p:cNvPr>
          <p:cNvSpPr/>
          <p:nvPr/>
        </p:nvSpPr>
        <p:spPr>
          <a:xfrm>
            <a:off x="1121981" y="874987"/>
            <a:ext cx="9941944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1183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723" y="4669972"/>
            <a:ext cx="8988551" cy="83234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01724" y="1398813"/>
            <a:ext cx="8988552" cy="3145973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93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145D9-E600-48F3-8D60-FBB32619D4B7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5D0C1F-1910-D1D3-C257-A50E730FB8BC}"/>
              </a:ext>
            </a:extLst>
          </p:cNvPr>
          <p:cNvSpPr/>
          <p:nvPr/>
        </p:nvSpPr>
        <p:spPr>
          <a:xfrm>
            <a:off x="1121981" y="874987"/>
            <a:ext cx="9941944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9932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9924E45-C895-43A4-5C38-357208F05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213" y="4669972"/>
            <a:ext cx="10069575" cy="1088572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F7F1ED0D-FB7E-F1D4-6BB4-DA7FCEA9CD3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1212" y="1398813"/>
            <a:ext cx="10069576" cy="3145973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93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8DA9F-3449-4571-B576-325E0AB8D353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106CE9-3864-8C80-F8B7-4C6D0D0E2D97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6718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7E2BE3E-32CC-3B2E-7AAB-62D6D812CE2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00188" y="1636205"/>
            <a:ext cx="9191625" cy="358559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8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8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48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48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48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C9CA7-4D60-41A4-A4F0-FD6D94D8C852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1D1BF1-778B-0A57-4F7E-BC57330C7085}"/>
              </a:ext>
            </a:extLst>
          </p:cNvPr>
          <p:cNvSpPr/>
          <p:nvPr/>
        </p:nvSpPr>
        <p:spPr>
          <a:xfrm>
            <a:off x="1121981" y="874987"/>
            <a:ext cx="9941944" cy="51080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553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00188" y="1636205"/>
            <a:ext cx="9191625" cy="358559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8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8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48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48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48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C6DBA-5967-4D4F-9608-7CC4DFDA88DC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6E25A4-0CFC-F2A6-5BDE-BEBF00F7CEA8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6222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E0C99F09-6747-AD83-83AF-D9553E5701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5528" y="1636205"/>
            <a:ext cx="10023579" cy="3585591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4800" b="0">
                <a:latin typeface="+mj-lt"/>
              </a:defRPr>
            </a:lvl1pPr>
            <a:lvl2pPr marL="228600" indent="0" algn="l">
              <a:lnSpc>
                <a:spcPct val="100000"/>
              </a:lnSpc>
              <a:buNone/>
              <a:defRPr sz="4800" b="0">
                <a:latin typeface="+mj-lt"/>
              </a:defRPr>
            </a:lvl2pPr>
            <a:lvl3pPr marL="457200" indent="0" algn="l">
              <a:lnSpc>
                <a:spcPct val="100000"/>
              </a:lnSpc>
              <a:buNone/>
              <a:defRPr sz="4800" b="0">
                <a:latin typeface="+mj-lt"/>
              </a:defRPr>
            </a:lvl3pPr>
            <a:lvl4pPr marL="685800" indent="0" algn="l">
              <a:lnSpc>
                <a:spcPct val="100000"/>
              </a:lnSpc>
              <a:buNone/>
              <a:defRPr sz="4800" b="0">
                <a:latin typeface="+mj-lt"/>
              </a:defRPr>
            </a:lvl4pPr>
            <a:lvl5pPr marL="914400" indent="0" algn="l">
              <a:lnSpc>
                <a:spcPct val="100000"/>
              </a:lnSpc>
              <a:buNone/>
              <a:defRPr sz="48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B4E8A-F766-4B4E-BA35-31ABBD66791B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DBB70-84D2-1F96-C132-E1127669A16F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>
                <a:alpha val="9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5750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1118" y="5097029"/>
            <a:ext cx="9246805" cy="594321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74077" y="1188719"/>
            <a:ext cx="9243846" cy="3148857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2632-1039-4FCE-A210-396E8C7520B2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EDF265-9439-7BBC-B79E-33CC94E2DC55}"/>
              </a:ext>
            </a:extLst>
          </p:cNvPr>
          <p:cNvSpPr/>
          <p:nvPr/>
        </p:nvSpPr>
        <p:spPr>
          <a:xfrm>
            <a:off x="1125028" y="4775289"/>
            <a:ext cx="9941944" cy="12077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7F47E6-58A4-FEC6-08F5-85426FD8908C}"/>
              </a:ext>
            </a:extLst>
          </p:cNvPr>
          <p:cNvSpPr/>
          <p:nvPr userDrawn="1"/>
        </p:nvSpPr>
        <p:spPr>
          <a:xfrm>
            <a:off x="1123548" y="869544"/>
            <a:ext cx="9941944" cy="37424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1574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5825" y="5407940"/>
            <a:ext cx="10420350" cy="46634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85825" y="841248"/>
            <a:ext cx="10420350" cy="329184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6D844-928B-4334-9530-404CD7C81364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DB8923-0D4C-46A4-1BC9-B4AAB7ABEC11}"/>
              </a:ext>
            </a:extLst>
          </p:cNvPr>
          <p:cNvSpPr/>
          <p:nvPr userDrawn="1"/>
        </p:nvSpPr>
        <p:spPr>
          <a:xfrm>
            <a:off x="337457" y="4775289"/>
            <a:ext cx="11517086" cy="173164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BA5BE4-3999-E20A-4360-E5F71C4A185E}"/>
              </a:ext>
            </a:extLst>
          </p:cNvPr>
          <p:cNvSpPr/>
          <p:nvPr userDrawn="1"/>
        </p:nvSpPr>
        <p:spPr>
          <a:xfrm>
            <a:off x="337457" y="351066"/>
            <a:ext cx="11517086" cy="425679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454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689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949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703B-AD10-45EB-9C69-399306B4449A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EBA90C-6E3D-2EA7-0292-1F928A070042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4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4D17117-BBA9-4972-76C2-EAFE70BD1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6" y="842464"/>
            <a:ext cx="10613572" cy="109945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4655" y="2217961"/>
            <a:ext cx="4873048" cy="409612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24299" y="2217961"/>
            <a:ext cx="4883928" cy="409612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F73C-A859-4554-A313-766C75404450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4F54CE-D52E-B9AA-434C-FDF3F79B9698}"/>
              </a:ext>
            </a:extLst>
          </p:cNvPr>
          <p:cNvSpPr/>
          <p:nvPr userDrawn="1"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431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BCF980F-8A96-8628-DE09-B13E23F3D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6" y="842464"/>
            <a:ext cx="10613572" cy="109945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4656" y="22064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5040" y="2908301"/>
            <a:ext cx="5183188" cy="3107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4656" y="2908301"/>
            <a:ext cx="5157788" cy="3107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5040" y="22064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D68B-28A2-4855-B3C1-2440696AF665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55CCF7-A846-6AC9-BA7F-5289CB5E60BD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5602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DF42212-3064-51ED-5F30-52A0C7F61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6" y="842464"/>
            <a:ext cx="10613572" cy="109945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DAC0D-566B-40F6-B3F6-72A0E1EDF8FC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9C737F-7905-466F-C06F-F52007DA2F3F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03361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F2907-BCBA-412E-9539-603ECFD8F450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90F8C8-2D2A-CF06-5953-711CD27DB9BD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4217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7" y="841248"/>
            <a:ext cx="3614111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5528" y="2794000"/>
            <a:ext cx="3614112" cy="3237592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736" y="826408"/>
            <a:ext cx="6440258" cy="5205184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6EE26-0A88-4974-AF99-F8A1B22A826A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AB5266-1EFE-EBA4-DA76-9931733DF23D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78773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841248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6059" y="3072019"/>
            <a:ext cx="3585586" cy="2951084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5E786F4-7682-486A-34C1-04BEC2E2FC4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27693" y="351064"/>
            <a:ext cx="6826850" cy="6155870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9050">
            <a:solidFill>
              <a:schemeClr val="tx1"/>
            </a:solidFill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EA849-C5D8-4949-916D-70A31634CC93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B15393-78B7-1299-9758-CF580DF4FE4C}"/>
              </a:ext>
            </a:extLst>
          </p:cNvPr>
          <p:cNvSpPr/>
          <p:nvPr/>
        </p:nvSpPr>
        <p:spPr>
          <a:xfrm>
            <a:off x="337457" y="351065"/>
            <a:ext cx="4539531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90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38" y="734785"/>
            <a:ext cx="10860767" cy="1899558"/>
          </a:xfrm>
        </p:spPr>
        <p:txBody>
          <a:bodyPr anchor="ctr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445" y="3461659"/>
            <a:ext cx="10862663" cy="2743200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 marL="228600" indent="0">
              <a:buNone/>
              <a:defRPr>
                <a:latin typeface="+mn-lt"/>
              </a:defRPr>
            </a:lvl2pPr>
            <a:lvl3pPr marL="457200" indent="0">
              <a:buNone/>
              <a:defRPr>
                <a:latin typeface="+mn-lt"/>
              </a:defRPr>
            </a:lvl3pPr>
            <a:lvl4pPr marL="685800" indent="0">
              <a:buNone/>
              <a:defRPr>
                <a:latin typeface="+mn-lt"/>
              </a:defRPr>
            </a:lvl4pPr>
            <a:lvl5pPr marL="9144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F0EB-E3CD-4DFD-ADFD-CB1276891D7A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A73EF4-B3A4-C91B-C926-DFEBF369D4CD}"/>
              </a:ext>
            </a:extLst>
          </p:cNvPr>
          <p:cNvSpPr/>
          <p:nvPr/>
        </p:nvSpPr>
        <p:spPr>
          <a:xfrm>
            <a:off x="337457" y="3159582"/>
            <a:ext cx="11517086" cy="33473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976A88-3D90-1E33-A9D8-DAACF1FA80C1}"/>
              </a:ext>
            </a:extLst>
          </p:cNvPr>
          <p:cNvSpPr/>
          <p:nvPr userDrawn="1"/>
        </p:nvSpPr>
        <p:spPr>
          <a:xfrm>
            <a:off x="337457" y="351065"/>
            <a:ext cx="11517086" cy="26452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3652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234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8362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D416-224D-4632-8302-C1A0B05C0690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7FA380-B447-5FA8-345F-B2F822AE0F94}"/>
              </a:ext>
            </a:extLst>
          </p:cNvPr>
          <p:cNvSpPr/>
          <p:nvPr/>
        </p:nvSpPr>
        <p:spPr>
          <a:xfrm>
            <a:off x="337457" y="351065"/>
            <a:ext cx="11517086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9252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ED31C6D-C872-21AF-E894-7909C9E98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842464"/>
            <a:ext cx="7204455" cy="109945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528" y="2034949"/>
            <a:ext cx="7204455" cy="416991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9BD70567-A2BD-F33E-3F80-9A1889D51A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16581" y="361188"/>
            <a:ext cx="3227832" cy="6135624"/>
          </a:xfr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9050">
            <a:noFill/>
            <a:miter lim="800000"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F0EB-E3CD-4DFD-ADFD-CB1276891D7A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4B8A01-CD47-ECD4-67B2-C013AFFE6B8B}"/>
              </a:ext>
            </a:extLst>
          </p:cNvPr>
          <p:cNvSpPr/>
          <p:nvPr userDrawn="1"/>
        </p:nvSpPr>
        <p:spPr>
          <a:xfrm>
            <a:off x="337456" y="351065"/>
            <a:ext cx="8126031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C5E1A5-04A2-D0FF-CA5F-0F7CB3B65A78}"/>
              </a:ext>
            </a:extLst>
          </p:cNvPr>
          <p:cNvSpPr/>
          <p:nvPr userDrawn="1"/>
        </p:nvSpPr>
        <p:spPr>
          <a:xfrm>
            <a:off x="8606452" y="351065"/>
            <a:ext cx="3248090" cy="61558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31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98770"/>
            <a:ext cx="3494314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A325475-EA0F-49B2-A586-CC0D8CB91667}" type="datetime1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98770"/>
            <a:ext cx="2805405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98770"/>
            <a:ext cx="429207" cy="359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7547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83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78" r:id="rId12"/>
    <p:sldLayoutId id="2147483836" r:id="rId13"/>
    <p:sldLayoutId id="2147483837" r:id="rId14"/>
    <p:sldLayoutId id="2147483838" r:id="rId15"/>
    <p:sldLayoutId id="2147483839" r:id="rId16"/>
    <p:sldLayoutId id="2147483840" r:id="rId17"/>
    <p:sldLayoutId id="2147483841" r:id="rId18"/>
    <p:sldLayoutId id="2147483880" r:id="rId19"/>
    <p:sldLayoutId id="2147483842" r:id="rId20"/>
    <p:sldLayoutId id="2147483843" r:id="rId21"/>
    <p:sldLayoutId id="2147483844" r:id="rId22"/>
    <p:sldLayoutId id="2147483845" r:id="rId23"/>
    <p:sldLayoutId id="2147483846" r:id="rId24"/>
    <p:sldLayoutId id="2147483847" r:id="rId25"/>
    <p:sldLayoutId id="2147483848" r:id="rId26"/>
    <p:sldLayoutId id="2147483849" r:id="rId27"/>
    <p:sldLayoutId id="2147483850" r:id="rId28"/>
    <p:sldLayoutId id="2147483851" r:id="rId29"/>
    <p:sldLayoutId id="2147483852" r:id="rId30"/>
    <p:sldLayoutId id="2147483881" r:id="rId31"/>
    <p:sldLayoutId id="2147483882" r:id="rId32"/>
    <p:sldLayoutId id="2147483855" r:id="rId33"/>
    <p:sldLayoutId id="2147483856" r:id="rId34"/>
    <p:sldLayoutId id="2147483857" r:id="rId35"/>
    <p:sldLayoutId id="2147483884" r:id="rId36"/>
    <p:sldLayoutId id="2147483879" r:id="rId37"/>
    <p:sldLayoutId id="2147483859" r:id="rId38"/>
    <p:sldLayoutId id="2147483860" r:id="rId39"/>
    <p:sldLayoutId id="2147483861" r:id="rId40"/>
    <p:sldLayoutId id="2147483862" r:id="rId41"/>
    <p:sldLayoutId id="2147483863" r:id="rId42"/>
    <p:sldLayoutId id="2147483864" r:id="rId43"/>
    <p:sldLayoutId id="2147483865" r:id="rId44"/>
    <p:sldLayoutId id="2147483866" r:id="rId45"/>
    <p:sldLayoutId id="2147483867" r:id="rId46"/>
    <p:sldLayoutId id="2147483868" r:id="rId47"/>
    <p:sldLayoutId id="2147483869" r:id="rId48"/>
    <p:sldLayoutId id="2147483870" r:id="rId49"/>
    <p:sldLayoutId id="2147483871" r:id="rId50"/>
    <p:sldLayoutId id="2147483872" r:id="rId51"/>
    <p:sldLayoutId id="2147483873" r:id="rId52"/>
    <p:sldLayoutId id="2147483874" r:id="rId53"/>
    <p:sldLayoutId id="2147483876" r:id="rId54"/>
    <p:sldLayoutId id="2147483875" r:id="rId55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076" y="1359777"/>
            <a:ext cx="6091218" cy="3212224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Bike Sharing Data Analysis &amp; Executive Dashboard</a:t>
            </a:r>
            <a:endParaRPr lang="en-US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4076" y="4731335"/>
            <a:ext cx="5880761" cy="960017"/>
          </a:xfrm>
        </p:spPr>
        <p:txBody>
          <a:bodyPr/>
          <a:lstStyle/>
          <a:p>
            <a:r>
              <a:rPr lang="en-US" b="1" noProof="1">
                <a:latin typeface="Playfair Display"/>
              </a:rPr>
              <a:t>NextHikes</a:t>
            </a:r>
            <a:r>
              <a:rPr lang="en-US" b="1" dirty="0">
                <a:latin typeface="Playfair Display"/>
              </a:rPr>
              <a:t> Project –1</a:t>
            </a:r>
          </a:p>
          <a:p>
            <a:r>
              <a:rPr lang="en-US" b="1">
                <a:latin typeface="Playfair Display"/>
              </a:rPr>
              <a:t>Presented by – Bhavdeep Kaur 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BBE3FE3-96A9-764C-AAAE-18AA25A5194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0689" r="10689"/>
          <a:stretch/>
        </p:blipFill>
        <p:spPr>
          <a:xfrm>
            <a:off x="7855758" y="886250"/>
            <a:ext cx="3197543" cy="50927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C34352-F330-3C03-5DD5-76D0E9B52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9" y="610235"/>
            <a:ext cx="10613572" cy="932543"/>
          </a:xfrm>
        </p:spPr>
        <p:txBody>
          <a:bodyPr/>
          <a:lstStyle/>
          <a:p>
            <a:pPr algn="ctr"/>
            <a:r>
              <a:rPr lang="en-GB" b="1" u="sng">
                <a:ea typeface="+mj-lt"/>
                <a:cs typeface="+mj-lt"/>
              </a:rPr>
              <a:t>Project Overview</a:t>
            </a:r>
            <a:endParaRPr lang="en-US" b="1" u="sn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87345-057C-0201-4F38-FEBC8B65EEC4}"/>
              </a:ext>
            </a:extLst>
          </p:cNvPr>
          <p:cNvSpPr txBox="1"/>
          <p:nvPr/>
        </p:nvSpPr>
        <p:spPr>
          <a:xfrm>
            <a:off x="645885" y="1353457"/>
            <a:ext cx="10152742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>
                <a:latin typeface="Playfair Display"/>
              </a:rPr>
              <a:t>Problem Statement</a:t>
            </a:r>
          </a:p>
          <a:p>
            <a:r>
              <a:rPr lang="en-US" sz="1600">
                <a:latin typeface="Playfair Display"/>
                <a:ea typeface="+mn-lt"/>
                <a:cs typeface="+mn-lt"/>
              </a:rPr>
              <a:t>Urban bike-sharing systems generate large volumes of rental data every day. This project analyzes rental patterns, customer behavior, and environmental factors to help improve operational efficiency and support data-driven business decisions.</a:t>
            </a:r>
            <a:endParaRPr lang="en-US">
              <a:latin typeface="Playfair Display"/>
              <a:ea typeface="+mn-lt"/>
              <a:cs typeface="+mn-lt"/>
            </a:endParaRPr>
          </a:p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A39AE-5FCA-DD67-4FBB-88D8264123DD}"/>
              </a:ext>
            </a:extLst>
          </p:cNvPr>
          <p:cNvSpPr txBox="1"/>
          <p:nvPr/>
        </p:nvSpPr>
        <p:spPr>
          <a:xfrm>
            <a:off x="645886" y="2826658"/>
            <a:ext cx="8302170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u="sng">
                <a:latin typeface="Playfair Display"/>
              </a:rPr>
              <a:t>Project </a:t>
            </a:r>
            <a:r>
              <a:rPr lang="en-GB" b="1" u="sng" dirty="0">
                <a:latin typeface="Playfair Display"/>
              </a:rPr>
              <a:t>Objectives</a:t>
            </a:r>
          </a:p>
          <a:p>
            <a:r>
              <a:rPr lang="en-GB" sz="1600" dirty="0">
                <a:latin typeface="Playfair Display"/>
                <a:ea typeface="+mn-lt"/>
                <a:cs typeface="+mn-lt"/>
              </a:rPr>
              <a:t>• </a:t>
            </a:r>
            <a:r>
              <a:rPr lang="en-GB" sz="1600">
                <a:latin typeface="Playfair Display"/>
                <a:ea typeface="+mn-lt"/>
                <a:cs typeface="+mn-lt"/>
              </a:rPr>
              <a:t>Analyse</a:t>
            </a:r>
            <a:r>
              <a:rPr lang="en-GB" sz="1600" dirty="0">
                <a:latin typeface="Playfair Display"/>
                <a:ea typeface="+mn-lt"/>
                <a:cs typeface="+mn-lt"/>
              </a:rPr>
              <a:t> bike rental demand patterns</a:t>
            </a:r>
            <a:endParaRPr lang="en-GB" sz="1600">
              <a:latin typeface="Playfair Display"/>
            </a:endParaRPr>
          </a:p>
          <a:p>
            <a:r>
              <a:rPr lang="en-GB" sz="1600" dirty="0">
                <a:latin typeface="Playfair Display"/>
                <a:ea typeface="+mn-lt"/>
                <a:cs typeface="+mn-lt"/>
              </a:rPr>
              <a:t>• Compare casual and registered customer </a:t>
            </a:r>
            <a:r>
              <a:rPr lang="en-GB" sz="1600">
                <a:latin typeface="Playfair Display"/>
                <a:ea typeface="+mn-lt"/>
                <a:cs typeface="+mn-lt"/>
              </a:rPr>
              <a:t>behaviour</a:t>
            </a:r>
            <a:endParaRPr lang="en-GB" sz="1600">
              <a:latin typeface="Playfair Display"/>
            </a:endParaRPr>
          </a:p>
          <a:p>
            <a:r>
              <a:rPr lang="en-GB" sz="1600">
                <a:latin typeface="Playfair Display"/>
                <a:ea typeface="+mn-lt"/>
                <a:cs typeface="+mn-lt"/>
              </a:rPr>
              <a:t>• Evaluate weather and seasonal impact</a:t>
            </a:r>
            <a:endParaRPr lang="en-GB" sz="1600">
              <a:latin typeface="Playfair Display"/>
            </a:endParaRPr>
          </a:p>
          <a:p>
            <a:r>
              <a:rPr lang="en-GB" sz="1600">
                <a:latin typeface="Playfair Display"/>
                <a:ea typeface="+mn-lt"/>
                <a:cs typeface="+mn-lt"/>
              </a:rPr>
              <a:t>• Identify peak operational hours and weekday trends</a:t>
            </a:r>
            <a:endParaRPr lang="en-GB" sz="1600">
              <a:latin typeface="Playfair Display"/>
            </a:endParaRPr>
          </a:p>
          <a:p>
            <a:r>
              <a:rPr lang="en-GB" sz="1600">
                <a:latin typeface="Playfair Display"/>
                <a:ea typeface="+mn-lt"/>
                <a:cs typeface="+mn-lt"/>
              </a:rPr>
              <a:t>• Build interactive dashboards for business insights</a:t>
            </a:r>
            <a:endParaRPr lang="en-GB" sz="1600">
              <a:latin typeface="Playfair Display"/>
            </a:endParaRPr>
          </a:p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5E57B4-23D9-005C-77E1-7C8FF3F67276}"/>
              </a:ext>
            </a:extLst>
          </p:cNvPr>
          <p:cNvSpPr txBox="1"/>
          <p:nvPr/>
        </p:nvSpPr>
        <p:spPr>
          <a:xfrm>
            <a:off x="645886" y="4800600"/>
            <a:ext cx="6850742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>
                <a:latin typeface="Playfair Display"/>
              </a:rPr>
              <a:t>Project Outcome</a:t>
            </a:r>
          </a:p>
          <a:p>
            <a:r>
              <a:rPr lang="en-US" sz="1600">
                <a:latin typeface="Playfair Display"/>
                <a:ea typeface="+mn-lt"/>
                <a:cs typeface="+mn-lt"/>
              </a:rPr>
              <a:t>Deliver two interactive dashboards that transform raw rental data into actionable business insights for operational planning and strategic decision-making.</a:t>
            </a:r>
            <a:endParaRPr lang="en-US">
              <a:latin typeface="Playfair Display"/>
              <a:ea typeface="+mn-lt"/>
              <a:cs typeface="+mn-lt"/>
            </a:endParaRPr>
          </a:p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03A9A0-2B64-A37B-7EEB-FE090D6EC4EC}"/>
              </a:ext>
            </a:extLst>
          </p:cNvPr>
          <p:cNvSpPr/>
          <p:nvPr/>
        </p:nvSpPr>
        <p:spPr>
          <a:xfrm>
            <a:off x="8517365" y="3153096"/>
            <a:ext cx="2685143" cy="558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>
                <a:latin typeface="Playfair Display"/>
                <a:ea typeface="+mn-lt"/>
                <a:cs typeface="+mn-lt"/>
              </a:rPr>
              <a:t>🚲</a:t>
            </a:r>
            <a:r>
              <a:rPr lang="en-GB" b="1">
                <a:latin typeface="Playfair Display"/>
                <a:ea typeface="+mn-lt"/>
                <a:cs typeface="+mn-lt"/>
              </a:rPr>
              <a:t> Bike Sharing</a:t>
            </a:r>
            <a:endParaRPr lang="en-US" b="1">
              <a:latin typeface="Playfair Display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29D9A0F-5C6A-6249-8077-82947CEF5742}"/>
              </a:ext>
            </a:extLst>
          </p:cNvPr>
          <p:cNvSpPr/>
          <p:nvPr/>
        </p:nvSpPr>
        <p:spPr>
          <a:xfrm>
            <a:off x="8517364" y="3886066"/>
            <a:ext cx="2685143" cy="558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latin typeface="Playfair Display"/>
                <a:ea typeface="+mn-lt"/>
                <a:cs typeface="+mn-lt"/>
              </a:rPr>
              <a:t>📊 Data Analysis</a:t>
            </a:r>
            <a:endParaRPr lang="en-GB" b="1">
              <a:latin typeface="Playfair Display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F5FE3FC-8AE7-C334-99BC-7276808F54D9}"/>
              </a:ext>
            </a:extLst>
          </p:cNvPr>
          <p:cNvSpPr/>
          <p:nvPr/>
        </p:nvSpPr>
        <p:spPr>
          <a:xfrm>
            <a:off x="8517363" y="4611779"/>
            <a:ext cx="2685143" cy="558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latin typeface="Playfair Display"/>
              </a:rPr>
              <a:t>📈 Business Insights</a:t>
            </a:r>
            <a:endParaRPr lang="en-US">
              <a:latin typeface="Playfair Display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DFBCBEA-A33E-C57E-7011-160AD1DBD6AC}"/>
              </a:ext>
            </a:extLst>
          </p:cNvPr>
          <p:cNvSpPr/>
          <p:nvPr/>
        </p:nvSpPr>
        <p:spPr>
          <a:xfrm>
            <a:off x="8517362" y="5381035"/>
            <a:ext cx="2685143" cy="5442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>
                <a:latin typeface="Playfair Display"/>
                <a:ea typeface="+mn-lt"/>
                <a:cs typeface="+mn-lt"/>
              </a:rPr>
              <a:t>📋</a:t>
            </a:r>
            <a:r>
              <a:rPr lang="en-GB" sz="1600" b="1">
                <a:latin typeface="Playfair Display"/>
                <a:ea typeface="+mn-lt"/>
                <a:cs typeface="+mn-lt"/>
              </a:rPr>
              <a:t>Executive </a:t>
            </a:r>
            <a:r>
              <a:rPr lang="en-GB" sz="1600" b="1" dirty="0">
                <a:latin typeface="Playfair Display"/>
                <a:ea typeface="+mn-lt"/>
                <a:cs typeface="+mn-lt"/>
              </a:rPr>
              <a:t>Dashboard</a:t>
            </a:r>
            <a:endParaRPr lang="en-US" sz="1600" b="1">
              <a:latin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774093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00B729-49D3-A8D7-ADC1-5BFC5BF95436}"/>
              </a:ext>
            </a:extLst>
          </p:cNvPr>
          <p:cNvSpPr txBox="1"/>
          <p:nvPr/>
        </p:nvSpPr>
        <p:spPr>
          <a:xfrm>
            <a:off x="449943" y="1418771"/>
            <a:ext cx="6415314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📂 </a:t>
            </a:r>
            <a:r>
              <a:rPr lang="en-US" b="1" u="sng">
                <a:latin typeface="Playfair Display"/>
              </a:rPr>
              <a:t>Data Source</a:t>
            </a:r>
            <a:endParaRPr lang="en-US"/>
          </a:p>
          <a:p>
            <a:r>
              <a:rPr lang="en-US" sz="1600" dirty="0">
                <a:latin typeface="Playfair Display"/>
              </a:rPr>
              <a:t>The dataset was provided as part of the </a:t>
            </a:r>
            <a:r>
              <a:rPr lang="en-US" sz="1600" b="1" dirty="0" err="1">
                <a:latin typeface="Playfair Display"/>
              </a:rPr>
              <a:t>NextHikes</a:t>
            </a:r>
            <a:r>
              <a:rPr lang="en-US" sz="1600" b="1" dirty="0">
                <a:latin typeface="Playfair Display"/>
              </a:rPr>
              <a:t> Project 1</a:t>
            </a:r>
            <a:r>
              <a:rPr lang="en-US" sz="1600" dirty="0">
                <a:latin typeface="Playfair Display"/>
              </a:rPr>
              <a:t> and contains historical bike-sharing rental records along with customer and environmental information.</a:t>
            </a:r>
          </a:p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F4FB9-60D7-CE0A-1F5F-5FDF12FCA363}"/>
              </a:ext>
            </a:extLst>
          </p:cNvPr>
          <p:cNvSpPr txBox="1"/>
          <p:nvPr/>
        </p:nvSpPr>
        <p:spPr>
          <a:xfrm>
            <a:off x="449943" y="2804886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📊 </a:t>
            </a:r>
            <a:r>
              <a:rPr lang="en-US" b="1" u="sng">
                <a:latin typeface="Playfair Display"/>
                <a:ea typeface="+mn-lt"/>
                <a:cs typeface="+mn-lt"/>
              </a:rPr>
              <a:t>Dataset Statistics</a:t>
            </a:r>
            <a:endParaRPr lang="en-US" b="1" u="sng">
              <a:latin typeface="Playfair Display"/>
            </a:endParaRPr>
          </a:p>
          <a:p>
            <a:pPr>
              <a:buFont typeface=""/>
              <a:buChar char="•"/>
            </a:pPr>
            <a:r>
              <a:rPr lang="en-US" sz="1600">
                <a:latin typeface="Playfair Display"/>
              </a:rPr>
              <a:t>Total Records:</a:t>
            </a:r>
            <a:r>
              <a:rPr lang="en-US" dirty="0">
                <a:latin typeface="Playfair Display"/>
              </a:rPr>
              <a:t> </a:t>
            </a:r>
            <a:r>
              <a:rPr lang="en-US" b="1">
                <a:latin typeface="Playfair Display"/>
              </a:rPr>
              <a:t> 1,000 </a:t>
            </a:r>
          </a:p>
          <a:p>
            <a:pPr>
              <a:buFont typeface=""/>
              <a:buChar char="•"/>
            </a:pPr>
            <a:r>
              <a:rPr lang="en-US" sz="1600">
                <a:latin typeface="Playfair Display"/>
              </a:rPr>
              <a:t>Features: </a:t>
            </a:r>
            <a:r>
              <a:rPr lang="en-US" b="1">
                <a:latin typeface="Playfair Display"/>
              </a:rPr>
              <a:t> 16</a:t>
            </a:r>
            <a:r>
              <a:rPr lang="en-US" dirty="0">
                <a:latin typeface="Playfair Display"/>
              </a:rPr>
              <a:t> </a:t>
            </a:r>
            <a:endParaRPr lang="en-US"/>
          </a:p>
          <a:p>
            <a:pPr>
              <a:buFont typeface=""/>
              <a:buChar char="•"/>
            </a:pPr>
            <a:r>
              <a:rPr lang="en-US" sz="1600">
                <a:latin typeface="Playfair Display"/>
              </a:rPr>
              <a:t>Datasets Analyzed</a:t>
            </a:r>
            <a:r>
              <a:rPr lang="en-US">
                <a:latin typeface="Playfair Display"/>
              </a:rPr>
              <a:t>:</a:t>
            </a:r>
            <a:r>
              <a:rPr lang="en-US" dirty="0">
                <a:latin typeface="Playfair Display"/>
              </a:rPr>
              <a:t> </a:t>
            </a:r>
            <a:r>
              <a:rPr lang="en-US" b="1">
                <a:latin typeface="Playfair Display"/>
              </a:rPr>
              <a:t> 3 </a:t>
            </a:r>
            <a:endParaRPr lang="en-US"/>
          </a:p>
          <a:p>
            <a:pPr>
              <a:buFont typeface=""/>
              <a:buChar char="•"/>
            </a:pPr>
            <a:r>
              <a:rPr lang="en-US" sz="1600">
                <a:latin typeface="Playfair Display"/>
              </a:rPr>
              <a:t>Business Dashboards: </a:t>
            </a:r>
            <a:r>
              <a:rPr lang="en-US" dirty="0">
                <a:latin typeface="Playfair Display"/>
              </a:rPr>
              <a:t> </a:t>
            </a:r>
            <a:r>
              <a:rPr lang="en-US" b="1">
                <a:latin typeface="Playfair Display"/>
              </a:rPr>
              <a:t>2</a:t>
            </a:r>
            <a:endParaRPr lang="en-US"/>
          </a:p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91955F-4701-C3E9-E3A4-89913D9F0019}"/>
              </a:ext>
            </a:extLst>
          </p:cNvPr>
          <p:cNvSpPr txBox="1"/>
          <p:nvPr/>
        </p:nvSpPr>
        <p:spPr>
          <a:xfrm>
            <a:off x="449943" y="4553857"/>
            <a:ext cx="6096000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🗂 </a:t>
            </a:r>
            <a:r>
              <a:rPr lang="en-US" b="1" u="sng">
                <a:latin typeface="Playfair Display"/>
              </a:rPr>
              <a:t>Dataset Structure</a:t>
            </a:r>
            <a:endParaRPr lang="en-US"/>
          </a:p>
          <a:p>
            <a:r>
              <a:rPr lang="en-US" sz="1600">
                <a:latin typeface="Playfair Display"/>
              </a:rPr>
              <a:t>The dataset includes:</a:t>
            </a:r>
          </a:p>
          <a:p>
            <a:pPr>
              <a:buFont typeface=""/>
              <a:buChar char="•"/>
            </a:pPr>
            <a:r>
              <a:rPr lang="en-US" sz="1600">
                <a:latin typeface="Playfair Display"/>
              </a:rPr>
              <a:t>Date &amp; Time Information </a:t>
            </a:r>
          </a:p>
          <a:p>
            <a:pPr>
              <a:buFont typeface=""/>
              <a:buChar char="•"/>
            </a:pPr>
            <a:r>
              <a:rPr lang="en-US" sz="1600">
                <a:latin typeface="Playfair Display"/>
              </a:rPr>
              <a:t>Customer Information </a:t>
            </a:r>
          </a:p>
          <a:p>
            <a:pPr>
              <a:buFont typeface=""/>
              <a:buChar char="•"/>
            </a:pPr>
            <a:r>
              <a:rPr lang="en-US" sz="1600">
                <a:latin typeface="Playfair Display"/>
              </a:rPr>
              <a:t>Weather Conditions </a:t>
            </a:r>
          </a:p>
          <a:p>
            <a:pPr>
              <a:buFont typeface=""/>
              <a:buChar char="•"/>
            </a:pPr>
            <a:r>
              <a:rPr lang="en-US" sz="1600">
                <a:latin typeface="Playfair Display"/>
              </a:rPr>
              <a:t>Environmental Factors </a:t>
            </a:r>
          </a:p>
          <a:p>
            <a:pPr>
              <a:buFont typeface=""/>
              <a:buChar char="•"/>
            </a:pPr>
            <a:r>
              <a:rPr lang="en-US" sz="1600">
                <a:latin typeface="Playfair Display"/>
              </a:rPr>
              <a:t>Rental Counts</a:t>
            </a:r>
          </a:p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82296A-3B69-3959-4DF2-AC96007A5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972" y="413657"/>
            <a:ext cx="4753428" cy="60669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049E3EB-88AB-C513-0C0F-9B83443AD2B5}"/>
              </a:ext>
            </a:extLst>
          </p:cNvPr>
          <p:cNvSpPr txBox="1"/>
          <p:nvPr/>
        </p:nvSpPr>
        <p:spPr>
          <a:xfrm>
            <a:off x="449943" y="439058"/>
            <a:ext cx="6096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u="sng">
                <a:latin typeface="Playfair Display"/>
              </a:rPr>
              <a:t>Dataset Overview</a:t>
            </a:r>
          </a:p>
          <a:p>
            <a:pPr algn="ctr"/>
            <a:endParaRPr lang="en-GB">
              <a:latin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BC85FEB-5FAD-7B4F-3733-D9E1F6533662}"/>
              </a:ext>
            </a:extLst>
          </p:cNvPr>
          <p:cNvSpPr txBox="1"/>
          <p:nvPr/>
        </p:nvSpPr>
        <p:spPr>
          <a:xfrm>
            <a:off x="849086" y="446315"/>
            <a:ext cx="10101942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u="sng">
                <a:latin typeface="Playfair Display"/>
              </a:rPr>
              <a:t>Tools &amp; Technologies</a:t>
            </a:r>
            <a:endParaRPr lang="en-US" b="1" u="sng"/>
          </a:p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056F5F-84A5-932C-DD58-4D3B9702DA6F}"/>
              </a:ext>
            </a:extLst>
          </p:cNvPr>
          <p:cNvSpPr/>
          <p:nvPr/>
        </p:nvSpPr>
        <p:spPr>
          <a:xfrm>
            <a:off x="542618" y="1457603"/>
            <a:ext cx="4673599" cy="79103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  <a:p>
            <a:pPr algn="ctr"/>
            <a:r>
              <a:rPr lang="en-GB" sz="1600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📗</a:t>
            </a:r>
            <a:r>
              <a:rPr lang="en-GB" sz="1600" b="1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Microsoft Excel</a:t>
            </a:r>
            <a:endParaRPr lang="en-GB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algn="ctr"/>
            <a:r>
              <a:rPr lang="en-GB" sz="14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Primary platform used for data cleaning, analysis, and dashboard creation.</a:t>
            </a:r>
            <a:endParaRPr lang="en-GB" sz="1400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algn="ctr"/>
            <a:endParaRPr lang="en-GB" dirty="0">
              <a:latin typeface="Playfair Display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BE9339-7BED-986C-8159-0A35AAB3F306}"/>
              </a:ext>
            </a:extLst>
          </p:cNvPr>
          <p:cNvSpPr/>
          <p:nvPr/>
        </p:nvSpPr>
        <p:spPr>
          <a:xfrm>
            <a:off x="535360" y="2422803"/>
            <a:ext cx="4673598" cy="805544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dirty="0">
              <a:solidFill>
                <a:schemeClr val="accent4">
                  <a:lumMod val="76000"/>
                </a:schemeClr>
              </a:solidFill>
            </a:endParaRPr>
          </a:p>
          <a:p>
            <a:pPr algn="ctr"/>
            <a:endParaRPr lang="en-GB" sz="1600" dirty="0">
              <a:solidFill>
                <a:schemeClr val="accent4">
                  <a:lumMod val="76000"/>
                </a:schemeClr>
              </a:solidFill>
              <a:ea typeface="+mn-lt"/>
              <a:cs typeface="+mn-lt"/>
            </a:endParaRPr>
          </a:p>
          <a:p>
            <a:pPr algn="ctr"/>
            <a:r>
              <a:rPr lang="en-GB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📊</a:t>
            </a:r>
            <a:r>
              <a:rPr lang="en-GB" sz="1600" dirty="0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 </a:t>
            </a:r>
            <a:r>
              <a:rPr lang="en-GB" sz="1600" b="1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Pivot Tables</a:t>
            </a:r>
            <a:endParaRPr lang="en-US" sz="1600" b="1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algn="ctr"/>
            <a:r>
              <a:rPr lang="en-GB" sz="14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Summarized large datasets into meaningful business insights.</a:t>
            </a:r>
            <a:endParaRPr lang="en-GB" sz="1400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algn="ctr"/>
            <a:endParaRPr lang="en-GB" sz="1600" dirty="0">
              <a:solidFill>
                <a:schemeClr val="accent4">
                  <a:lumMod val="76000"/>
                </a:schemeClr>
              </a:solidFill>
            </a:endParaRPr>
          </a:p>
          <a:p>
            <a:pPr algn="ctr"/>
            <a:endParaRPr lang="en-GB" sz="1600">
              <a:solidFill>
                <a:schemeClr val="accent4">
                  <a:lumMod val="76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A40F49D-BF77-2135-D36C-E5EDCFE461F1}"/>
              </a:ext>
            </a:extLst>
          </p:cNvPr>
          <p:cNvSpPr/>
          <p:nvPr/>
        </p:nvSpPr>
        <p:spPr>
          <a:xfrm>
            <a:off x="5912904" y="1515659"/>
            <a:ext cx="5036456" cy="73297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sz="1600" dirty="0"/>
          </a:p>
          <a:p>
            <a:pPr algn="ctr"/>
            <a:endParaRPr lang="en-GB" sz="1600" dirty="0">
              <a:solidFill>
                <a:schemeClr val="accent4">
                  <a:lumMod val="76000"/>
                </a:schemeClr>
              </a:solidFill>
            </a:endParaRPr>
          </a:p>
          <a:p>
            <a:pPr algn="ctr"/>
            <a:r>
              <a:rPr lang="en-GB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🔍 </a:t>
            </a:r>
            <a:r>
              <a:rPr lang="en-GB" sz="1600" b="1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XLOOKUP</a:t>
            </a:r>
            <a:endParaRPr lang="en-GB" b="1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algn="ctr"/>
            <a:r>
              <a:rPr lang="en-GB" sz="14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Merged datasets and retrieved related information efficiently.</a:t>
            </a:r>
            <a:endParaRPr lang="en-GB" sz="1400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algn="ctr"/>
            <a:endParaRPr lang="en-GB" sz="1600" b="1" dirty="0">
              <a:solidFill>
                <a:schemeClr val="accent4">
                  <a:lumMod val="76000"/>
                </a:schemeClr>
              </a:solidFill>
            </a:endParaRPr>
          </a:p>
          <a:p>
            <a:pPr algn="ctr"/>
            <a:endParaRPr lang="en-GB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9AD1E6D-2AFD-9EA4-52D3-77CFFF9B71E2}"/>
              </a:ext>
            </a:extLst>
          </p:cNvPr>
          <p:cNvSpPr/>
          <p:nvPr/>
        </p:nvSpPr>
        <p:spPr>
          <a:xfrm>
            <a:off x="549875" y="3438803"/>
            <a:ext cx="4673600" cy="6894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sz="1600" dirty="0">
              <a:solidFill>
                <a:schemeClr val="accent4">
                  <a:lumMod val="76000"/>
                </a:schemeClr>
              </a:solidFill>
            </a:endParaRPr>
          </a:p>
          <a:p>
            <a:pPr algn="ctr"/>
            <a:r>
              <a:rPr lang="en-GB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🎨</a:t>
            </a:r>
            <a:r>
              <a:rPr lang="en-GB" sz="1600" dirty="0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 </a:t>
            </a:r>
            <a:r>
              <a:rPr lang="en-GB" sz="1600" b="1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Conditional Formatting</a:t>
            </a:r>
            <a:endParaRPr lang="en-US" sz="1600" b="1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algn="ctr"/>
            <a:r>
              <a:rPr lang="en-GB" sz="14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Created heat maps and highlighted important patterns.</a:t>
            </a:r>
            <a:endParaRPr lang="en-GB" sz="1400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algn="ctr"/>
            <a:endParaRPr lang="en-GB" sz="1600" dirty="0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algn="ctr"/>
            <a:endParaRPr lang="en-GB" sz="1600" dirty="0">
              <a:solidFill>
                <a:schemeClr val="accent4">
                  <a:lumMod val="76000"/>
                </a:schemeClr>
              </a:solidFill>
            </a:endParaRPr>
          </a:p>
          <a:p>
            <a:pPr algn="ctr"/>
            <a:endParaRPr lang="en-GB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6830166-3E72-A525-4EA1-96ABF5B2DFA7}"/>
              </a:ext>
            </a:extLst>
          </p:cNvPr>
          <p:cNvSpPr/>
          <p:nvPr/>
        </p:nvSpPr>
        <p:spPr>
          <a:xfrm>
            <a:off x="549875" y="4338688"/>
            <a:ext cx="4680855" cy="595087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sz="1600" dirty="0">
              <a:solidFill>
                <a:schemeClr val="accent4">
                  <a:lumMod val="76000"/>
                </a:schemeClr>
              </a:solidFill>
            </a:endParaRPr>
          </a:p>
          <a:p>
            <a:pPr algn="ctr"/>
            <a:endParaRPr lang="en-GB" sz="1600" b="1" dirty="0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algn="ctr"/>
            <a:r>
              <a:rPr lang="en-GB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📈</a:t>
            </a:r>
            <a:r>
              <a:rPr lang="en-GB" sz="1600" dirty="0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 </a:t>
            </a:r>
            <a:r>
              <a:rPr lang="en-GB" sz="1600" b="1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Pivot Charts</a:t>
            </a:r>
            <a:endParaRPr lang="en-GB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algn="ctr"/>
            <a:r>
              <a:rPr lang="en-GB" sz="1400" dirty="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Visualized rental trends and customer </a:t>
            </a:r>
            <a:r>
              <a:rPr lang="en-GB" sz="1400" dirty="0" err="1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behavior</a:t>
            </a:r>
            <a:r>
              <a:rPr lang="en-GB" sz="1400" dirty="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.</a:t>
            </a:r>
          </a:p>
          <a:p>
            <a:pPr algn="ctr"/>
            <a:endParaRPr lang="en-GB" sz="1600" b="1" dirty="0">
              <a:solidFill>
                <a:schemeClr val="accent4">
                  <a:lumMod val="76000"/>
                </a:schemeClr>
              </a:solidFill>
            </a:endParaRPr>
          </a:p>
          <a:p>
            <a:pPr algn="ctr"/>
            <a:endParaRPr lang="en-GB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31AE802-EDF5-627F-EB6A-EA7E1A1338B6}"/>
              </a:ext>
            </a:extLst>
          </p:cNvPr>
          <p:cNvSpPr/>
          <p:nvPr/>
        </p:nvSpPr>
        <p:spPr>
          <a:xfrm>
            <a:off x="5912904" y="3431544"/>
            <a:ext cx="5043713" cy="696686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sz="1600" dirty="0"/>
          </a:p>
          <a:p>
            <a:pPr algn="ctr"/>
            <a:endParaRPr lang="en-GB" sz="1600" dirty="0">
              <a:solidFill>
                <a:schemeClr val="accent4">
                  <a:lumMod val="76000"/>
                </a:schemeClr>
              </a:solidFill>
            </a:endParaRPr>
          </a:p>
          <a:p>
            <a:pPr algn="ctr"/>
            <a:r>
              <a:rPr lang="en-GB" sz="1600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📋 </a:t>
            </a:r>
            <a:r>
              <a:rPr lang="en-GB" sz="1600" b="1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Dashboard Design</a:t>
            </a:r>
            <a:endParaRPr lang="en-GB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algn="ctr"/>
            <a:r>
              <a:rPr lang="en-GB" sz="14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Built interactive dashboards for executive reporting.</a:t>
            </a:r>
          </a:p>
          <a:p>
            <a:pPr algn="ctr"/>
            <a:endParaRPr lang="en-GB" sz="1600" b="1" dirty="0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algn="ctr"/>
            <a:endParaRPr lang="en-GB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2F56158-71E6-C734-F051-509D08220E13}"/>
              </a:ext>
            </a:extLst>
          </p:cNvPr>
          <p:cNvSpPr/>
          <p:nvPr/>
        </p:nvSpPr>
        <p:spPr>
          <a:xfrm>
            <a:off x="5912902" y="2524400"/>
            <a:ext cx="5036456" cy="70394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sz="1600" dirty="0"/>
          </a:p>
          <a:p>
            <a:pPr algn="ctr"/>
            <a:endParaRPr lang="en-GB" sz="1600" dirty="0">
              <a:solidFill>
                <a:schemeClr val="accent4">
                  <a:lumMod val="76000"/>
                </a:schemeClr>
              </a:solidFill>
            </a:endParaRPr>
          </a:p>
          <a:p>
            <a:pPr algn="ctr"/>
            <a:r>
              <a:rPr lang="en-GB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📉</a:t>
            </a:r>
            <a:r>
              <a:rPr lang="en-GB" sz="1600" b="1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 Data</a:t>
            </a:r>
            <a:r>
              <a:rPr lang="en-GB" sz="1600" b="1" dirty="0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 Visualization</a:t>
            </a:r>
            <a:endParaRPr lang="en-GB" b="1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algn="ctr"/>
            <a:r>
              <a:rPr lang="en-GB" sz="14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Presented insights using charts, KPIs, and business visuals.</a:t>
            </a:r>
            <a:endParaRPr lang="en-GB" sz="1400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algn="ctr"/>
            <a:endParaRPr lang="en-GB" sz="1600" b="1" dirty="0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algn="ctr"/>
            <a:endParaRPr lang="en-GB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56FD770-691F-24E6-43CE-74B5DF1AF145}"/>
              </a:ext>
            </a:extLst>
          </p:cNvPr>
          <p:cNvSpPr/>
          <p:nvPr/>
        </p:nvSpPr>
        <p:spPr>
          <a:xfrm>
            <a:off x="5912901" y="4316914"/>
            <a:ext cx="5043713" cy="61685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sz="1600" dirty="0"/>
          </a:p>
          <a:p>
            <a:pPr algn="ctr"/>
            <a:endParaRPr lang="en-GB" sz="1600" dirty="0">
              <a:solidFill>
                <a:schemeClr val="accent4">
                  <a:lumMod val="76000"/>
                </a:schemeClr>
              </a:solidFill>
            </a:endParaRPr>
          </a:p>
          <a:p>
            <a:pPr algn="ctr"/>
            <a:r>
              <a:rPr lang="en-GB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💡</a:t>
            </a:r>
            <a:r>
              <a:rPr lang="en-GB" sz="1600" b="1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 Business Analytics</a:t>
            </a:r>
            <a:endParaRPr lang="en-GB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algn="ctr"/>
            <a:r>
              <a:rPr lang="en-GB" sz="14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Converted raw data into actionable recommendations.</a:t>
            </a:r>
          </a:p>
          <a:p>
            <a:pPr algn="ctr"/>
            <a:endParaRPr lang="en-GB" sz="1600" b="1" dirty="0">
              <a:solidFill>
                <a:schemeClr val="accent4">
                  <a:lumMod val="76000"/>
                </a:schemeClr>
              </a:solidFill>
            </a:endParaRPr>
          </a:p>
          <a:p>
            <a:pPr algn="ctr"/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D9AC69-5A7C-2A65-1E62-811CE80FD244}"/>
              </a:ext>
            </a:extLst>
          </p:cNvPr>
          <p:cNvSpPr txBox="1"/>
          <p:nvPr/>
        </p:nvSpPr>
        <p:spPr>
          <a:xfrm>
            <a:off x="609600" y="5388429"/>
            <a:ext cx="1060994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Playfair Display"/>
              </a:rPr>
              <a:t>Why These Tools?  </a:t>
            </a:r>
          </a:p>
          <a:p>
            <a:r>
              <a:rPr lang="en-US">
                <a:latin typeface="Playfair Display"/>
                <a:ea typeface="+mn-lt"/>
                <a:cs typeface="+mn-lt"/>
              </a:rPr>
              <a:t>These technologies enabled efficient data preparation, analysis, visualization, and dashboard development, transforming raw bike-sharing data into actionable business insights.</a:t>
            </a:r>
          </a:p>
          <a:p>
            <a:pPr algn="ctr"/>
            <a:endParaRPr lang="en-GB" dirty="0">
              <a:latin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948600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01D7-435D-8E7D-53C0-66C0C37F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2B1CB6-9CE7-1B07-252A-1A15DC85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AE778-E571-19BA-FAA8-5A70EC18FF7C}"/>
              </a:ext>
            </a:extLst>
          </p:cNvPr>
          <p:cNvSpPr txBox="1"/>
          <p:nvPr/>
        </p:nvSpPr>
        <p:spPr>
          <a:xfrm>
            <a:off x="326571" y="431799"/>
            <a:ext cx="11546113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u="sng">
                <a:latin typeface="Playfair Display"/>
              </a:rPr>
              <a:t>Data Cleaning &amp; Preparation</a:t>
            </a:r>
            <a:endParaRPr lang="en-US" b="1" u="sng"/>
          </a:p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2E369A-6C5A-C0CC-C81C-60F67B4CCCA5}"/>
              </a:ext>
            </a:extLst>
          </p:cNvPr>
          <p:cNvSpPr/>
          <p:nvPr/>
        </p:nvSpPr>
        <p:spPr>
          <a:xfrm>
            <a:off x="613464" y="1299580"/>
            <a:ext cx="3484866" cy="13391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sz="1600">
                <a:solidFill>
                  <a:schemeClr val="accent4">
                    <a:lumMod val="76000"/>
                  </a:schemeClr>
                </a:solidFill>
                <a:ea typeface="+mn-lt"/>
                <a:cs typeface="+mn-lt"/>
              </a:rPr>
              <a:t>📂</a:t>
            </a:r>
            <a:r>
              <a:rPr lang="en-GB" sz="1600" dirty="0">
                <a:solidFill>
                  <a:schemeClr val="accent4">
                    <a:lumMod val="76000"/>
                  </a:schemeClr>
                </a:solidFill>
                <a:latin typeface="Raleway"/>
              </a:rPr>
              <a:t> </a:t>
            </a:r>
            <a:r>
              <a:rPr lang="en-GB" sz="1600" b="1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Raw Dataset</a:t>
            </a:r>
            <a:endParaRPr lang="en-US" sz="1600" b="1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Bike-sharing rental records </a:t>
            </a:r>
          </a:p>
          <a:p>
            <a:pPr marL="285750" indent="-285750">
              <a:buFont typeface="Arial"/>
              <a:buChar char="•"/>
            </a:pPr>
            <a:r>
              <a:rPr lang="en-GB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Customer information </a:t>
            </a:r>
            <a:endParaRPr lang="en-GB" sz="1600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Weather &amp; seasonal data </a:t>
            </a:r>
            <a:endParaRPr lang="en-GB" sz="1600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Date and time details</a:t>
            </a:r>
            <a:endParaRPr lang="en-GB" sz="1600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0D4136C-DA46-35AA-23FC-CD69FE5E6A91}"/>
              </a:ext>
            </a:extLst>
          </p:cNvPr>
          <p:cNvSpPr/>
          <p:nvPr/>
        </p:nvSpPr>
        <p:spPr>
          <a:xfrm rot="5400000">
            <a:off x="2194675" y="2913961"/>
            <a:ext cx="505527" cy="186800"/>
          </a:xfrm>
          <a:prstGeom prst="rightArrow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431B5A-1500-459C-9C12-6AFF4B9893EA}"/>
              </a:ext>
            </a:extLst>
          </p:cNvPr>
          <p:cNvSpPr/>
          <p:nvPr/>
        </p:nvSpPr>
        <p:spPr>
          <a:xfrm>
            <a:off x="671520" y="3425922"/>
            <a:ext cx="3738866" cy="15278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accent4">
                    <a:lumMod val="76000"/>
                  </a:schemeClr>
                </a:solidFill>
                <a:ea typeface="+mn-lt"/>
                <a:cs typeface="+mn-lt"/>
              </a:rPr>
              <a:t>🧹</a:t>
            </a:r>
            <a:r>
              <a:rPr lang="en-US" b="1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 Dat</a:t>
            </a:r>
            <a:r>
              <a:rPr lang="en-US" sz="1600" b="1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a Cleaning</a:t>
            </a:r>
            <a:endParaRPr lang="en-US" sz="1600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Verified dataset consistency 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Standardized data format </a:t>
            </a:r>
            <a:endParaRPr lang="en-US" sz="1600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Organized data for analysis 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Prepared records for processing</a:t>
            </a:r>
            <a:endParaRPr lang="en-US" sz="1600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9C96025-0575-6B4C-7F11-17A584B7785B}"/>
              </a:ext>
            </a:extLst>
          </p:cNvPr>
          <p:cNvSpPr/>
          <p:nvPr/>
        </p:nvSpPr>
        <p:spPr>
          <a:xfrm>
            <a:off x="6745748" y="3542035"/>
            <a:ext cx="3702580" cy="15278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>
                <a:solidFill>
                  <a:schemeClr val="accent4">
                    <a:lumMod val="76000"/>
                  </a:schemeClr>
                </a:solidFill>
                <a:ea typeface="+mn-lt"/>
                <a:cs typeface="+mn-lt"/>
              </a:rPr>
              <a:t>🔄</a:t>
            </a:r>
            <a:r>
              <a:rPr lang="en-US" sz="1600" b="1" dirty="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 </a:t>
            </a:r>
            <a:r>
              <a:rPr lang="en-US" sz="1600" b="1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Data Preparation</a:t>
            </a:r>
            <a:endParaRPr lang="en-US">
              <a:solidFill>
                <a:schemeClr val="accent4">
                  <a:lumMod val="76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Created Pivot Tables 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Used XLOOKUP for merging 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Added helper columns 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Prepared Dataset A &amp; Dataset B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84947F9-4851-BC55-0857-63B468591003}"/>
              </a:ext>
            </a:extLst>
          </p:cNvPr>
          <p:cNvSpPr/>
          <p:nvPr/>
        </p:nvSpPr>
        <p:spPr>
          <a:xfrm>
            <a:off x="6789290" y="1299577"/>
            <a:ext cx="3695323" cy="15278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>
                <a:solidFill>
                  <a:schemeClr val="accent4">
                    <a:lumMod val="76000"/>
                  </a:schemeClr>
                </a:solidFill>
                <a:ea typeface="+mn-lt"/>
                <a:cs typeface="+mn-lt"/>
              </a:rPr>
              <a:t>📈</a:t>
            </a:r>
            <a:r>
              <a:rPr lang="en-US" sz="1600" dirty="0">
                <a:solidFill>
                  <a:schemeClr val="accent4">
                    <a:lumMod val="76000"/>
                  </a:schemeClr>
                </a:solidFill>
                <a:latin typeface="Raleway"/>
              </a:rPr>
              <a:t> </a:t>
            </a:r>
            <a:r>
              <a:rPr lang="en-US" sz="1600" b="1">
                <a:solidFill>
                  <a:schemeClr val="accent4">
                    <a:lumMod val="76000"/>
                  </a:schemeClr>
                </a:solidFill>
                <a:latin typeface="Playfair Display"/>
              </a:rPr>
              <a:t>Analysis Ready</a:t>
            </a:r>
            <a:endParaRPr lang="en-US">
              <a:solidFill>
                <a:schemeClr val="accent4">
                  <a:lumMod val="76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Built analytical reports </a:t>
            </a:r>
            <a:endParaRPr lang="en-US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Designed interactive dashboards </a:t>
            </a:r>
            <a:endParaRPr lang="en-US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Extracted business insights </a:t>
            </a:r>
            <a:endParaRPr lang="en-US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accent4">
                    <a:lumMod val="76000"/>
                  </a:schemeClr>
                </a:solidFill>
                <a:latin typeface="Playfair Display"/>
                <a:ea typeface="+mn-lt"/>
                <a:cs typeface="+mn-lt"/>
              </a:rPr>
              <a:t>Developed executive summary</a:t>
            </a:r>
            <a:endParaRPr lang="en-US">
              <a:solidFill>
                <a:schemeClr val="accent4">
                  <a:lumMod val="76000"/>
                </a:schemeClr>
              </a:solidFill>
              <a:latin typeface="Playfair Display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C7754E2-80D7-5961-6B98-9C00B513C252}"/>
              </a:ext>
            </a:extLst>
          </p:cNvPr>
          <p:cNvSpPr/>
          <p:nvPr/>
        </p:nvSpPr>
        <p:spPr>
          <a:xfrm rot="-5400000">
            <a:off x="8414046" y="3109903"/>
            <a:ext cx="440214" cy="208571"/>
          </a:xfrm>
          <a:prstGeom prst="rightArrow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1B2CBFD-8307-5753-DD09-69EBFDB7D340}"/>
              </a:ext>
            </a:extLst>
          </p:cNvPr>
          <p:cNvSpPr/>
          <p:nvPr/>
        </p:nvSpPr>
        <p:spPr>
          <a:xfrm>
            <a:off x="5028382" y="4191500"/>
            <a:ext cx="1130808" cy="2451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6D4472-2E46-1E0C-0F1E-A6D88AC09A73}"/>
              </a:ext>
            </a:extLst>
          </p:cNvPr>
          <p:cNvSpPr txBox="1"/>
          <p:nvPr/>
        </p:nvSpPr>
        <p:spPr>
          <a:xfrm>
            <a:off x="747486" y="5381171"/>
            <a:ext cx="1064622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Playfair Display"/>
              </a:rPr>
              <a:t>Outcome</a:t>
            </a:r>
            <a:endParaRPr lang="en-US">
              <a:latin typeface="Playfair Display"/>
            </a:endParaRPr>
          </a:p>
          <a:p>
            <a:r>
              <a:rPr lang="en-US">
                <a:latin typeface="Playfair Display"/>
                <a:ea typeface="+mn-lt"/>
                <a:cs typeface="+mn-lt"/>
              </a:rPr>
              <a:t>The prepared data enabled accurate analysis, interactive dashboard development, and data-driven business recommendations.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495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758736-B6F6-BE9D-4D05-928DF653D19E}"/>
              </a:ext>
            </a:extLst>
          </p:cNvPr>
          <p:cNvSpPr txBox="1"/>
          <p:nvPr/>
        </p:nvSpPr>
        <p:spPr>
          <a:xfrm>
            <a:off x="355600" y="351971"/>
            <a:ext cx="114808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u="sng">
                <a:latin typeface="Playfair Display"/>
                <a:ea typeface="+mn-lt"/>
                <a:cs typeface="+mn-lt"/>
              </a:rPr>
              <a:t>Key Analysis &amp; Insights</a:t>
            </a:r>
            <a:endParaRPr lang="en-US" u="sng">
              <a:latin typeface="Playfair Display"/>
            </a:endParaRPr>
          </a:p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086CAF-89C0-4ADE-FBD3-CD1E6CF3D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38" y="1338488"/>
            <a:ext cx="5558064" cy="2344966"/>
          </a:xfrm>
          <a:prstGeom prst="rect">
            <a:avLst/>
          </a:prstGeom>
          <a:ln w="12700">
            <a:solidFill>
              <a:schemeClr val="bg2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F85FA9-4193-2AAD-301F-14CAEAF092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086" t="2295" r="19139" b="-1326"/>
          <a:stretch>
            <a:fillRect/>
          </a:stretch>
        </p:blipFill>
        <p:spPr>
          <a:xfrm>
            <a:off x="7162347" y="1341437"/>
            <a:ext cx="4002753" cy="2352298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5374DC-8CA8-5EB0-2ED4-67B7B9D1C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8" y="3864202"/>
            <a:ext cx="5548994" cy="2467882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208BE5-348E-E996-19CC-C1EB689FFD3F}"/>
              </a:ext>
            </a:extLst>
          </p:cNvPr>
          <p:cNvSpPr txBox="1"/>
          <p:nvPr/>
        </p:nvSpPr>
        <p:spPr>
          <a:xfrm>
            <a:off x="6524171" y="4285342"/>
            <a:ext cx="5065486" cy="163121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>
                <a:latin typeface="Playfair Display"/>
              </a:rPr>
              <a:t>Key Findings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Playfair Display"/>
                <a:ea typeface="+mn-lt"/>
                <a:cs typeface="+mn-lt"/>
              </a:rPr>
              <a:t>Bike rentals peaked during </a:t>
            </a:r>
            <a:r>
              <a:rPr lang="en-US" sz="1600" b="1">
                <a:latin typeface="Playfair Display"/>
                <a:ea typeface="+mn-lt"/>
                <a:cs typeface="+mn-lt"/>
              </a:rPr>
              <a:t>8 AM</a:t>
            </a:r>
            <a:r>
              <a:rPr lang="en-US" sz="1600">
                <a:latin typeface="Playfair Display"/>
                <a:ea typeface="+mn-lt"/>
                <a:cs typeface="+mn-lt"/>
              </a:rPr>
              <a:t> and </a:t>
            </a:r>
            <a:r>
              <a:rPr lang="en-US" sz="1600" b="1">
                <a:latin typeface="Playfair Display"/>
                <a:ea typeface="+mn-lt"/>
                <a:cs typeface="+mn-lt"/>
              </a:rPr>
              <a:t>5 PM</a:t>
            </a:r>
            <a:r>
              <a:rPr lang="en-US" sz="1600">
                <a:latin typeface="Playfair Display"/>
                <a:ea typeface="+mn-lt"/>
                <a:cs typeface="+mn-lt"/>
              </a:rPr>
              <a:t>, reflecting daily commuting patterns.</a:t>
            </a:r>
            <a:endParaRPr lang="en-US">
              <a:latin typeface="Playfair Display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latin typeface="Playfair Display"/>
              </a:rPr>
              <a:t>Registered users accounted for over </a:t>
            </a:r>
            <a:r>
              <a:rPr lang="en-US" sz="1600" b="1" dirty="0">
                <a:latin typeface="Playfair Display"/>
              </a:rPr>
              <a:t>91%</a:t>
            </a:r>
            <a:r>
              <a:rPr lang="en-US" sz="1600" dirty="0">
                <a:latin typeface="Playfair Display"/>
              </a:rPr>
              <a:t> of </a:t>
            </a:r>
            <a:r>
              <a:rPr lang="en-US" sz="1600">
                <a:latin typeface="Playfair Display"/>
              </a:rPr>
              <a:t>total rentals. </a:t>
            </a:r>
            <a:endParaRPr lang="en-US" sz="1600">
              <a:solidFill>
                <a:srgbClr val="000000"/>
              </a:solidFill>
              <a:latin typeface="Playfair Display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Playfair Display"/>
              </a:rPr>
              <a:t>Friday</a:t>
            </a:r>
            <a:r>
              <a:rPr lang="en-US" dirty="0">
                <a:latin typeface="Playfair Display"/>
              </a:rPr>
              <a:t> </a:t>
            </a:r>
            <a:r>
              <a:rPr lang="en-US" sz="1600">
                <a:latin typeface="Playfair Display"/>
              </a:rPr>
              <a:t>recorded the highest average bike rentals</a:t>
            </a:r>
            <a:endParaRPr lang="en-US" sz="1600" dirty="0">
              <a:latin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3D00EDB-9F0B-68FB-7E47-B5B3BB084FAB}"/>
              </a:ext>
            </a:extLst>
          </p:cNvPr>
          <p:cNvSpPr txBox="1"/>
          <p:nvPr/>
        </p:nvSpPr>
        <p:spPr>
          <a:xfrm>
            <a:off x="406401" y="410029"/>
            <a:ext cx="9173028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u="sng">
                <a:latin typeface="Playfair Display"/>
              </a:rPr>
              <a:t>Dataset A Dashboard</a:t>
            </a:r>
          </a:p>
          <a:p>
            <a:pPr algn="ctr"/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2FD3D9-6CD6-3125-43C1-016664050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77" y="1272267"/>
            <a:ext cx="5836105" cy="49012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809099-C995-8C44-576E-DD6F17AFCEED}"/>
              </a:ext>
            </a:extLst>
          </p:cNvPr>
          <p:cNvSpPr txBox="1"/>
          <p:nvPr/>
        </p:nvSpPr>
        <p:spPr>
          <a:xfrm>
            <a:off x="7743371" y="903514"/>
            <a:ext cx="3251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>
                <a:latin typeface="Playfair Display"/>
              </a:rPr>
              <a:t>📊 Dashboard Highlights</a:t>
            </a:r>
          </a:p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280BA-6CE8-D9EC-0B3D-108249FF701D}"/>
              </a:ext>
            </a:extLst>
          </p:cNvPr>
          <p:cNvSpPr txBox="1"/>
          <p:nvPr/>
        </p:nvSpPr>
        <p:spPr>
          <a:xfrm>
            <a:off x="6799943" y="1556657"/>
            <a:ext cx="51308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u="sng">
                <a:latin typeface="Playfair Display"/>
              </a:rPr>
              <a:t>Purpose</a:t>
            </a:r>
          </a:p>
          <a:p>
            <a:r>
              <a:rPr lang="en-US" sz="1400">
                <a:latin typeface="Playfair Display"/>
              </a:rPr>
              <a:t>Provides a consolidated view of customer behavior and environmental factors affecting bike-sharing demand.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0426C-EA50-734E-5363-8C2B1C20A813}"/>
              </a:ext>
            </a:extLst>
          </p:cNvPr>
          <p:cNvSpPr txBox="1"/>
          <p:nvPr/>
        </p:nvSpPr>
        <p:spPr>
          <a:xfrm>
            <a:off x="6799943" y="2529114"/>
            <a:ext cx="6096000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u="sng">
                <a:latin typeface="Playfair Display"/>
              </a:rPr>
              <a:t>Key Components</a:t>
            </a:r>
          </a:p>
          <a:p>
            <a:pPr>
              <a:buFont typeface=""/>
              <a:buChar char="•"/>
            </a:pPr>
            <a:r>
              <a:rPr lang="en-US" sz="1400">
                <a:latin typeface="Playfair Display"/>
              </a:rPr>
              <a:t>📈 KPI Cards </a:t>
            </a:r>
          </a:p>
          <a:p>
            <a:pPr>
              <a:buFont typeface=""/>
              <a:buChar char="•"/>
            </a:pPr>
            <a:r>
              <a:rPr lang="en-US" sz="1400">
                <a:latin typeface="Playfair Display"/>
              </a:rPr>
              <a:t>👥 Customer Composition </a:t>
            </a:r>
          </a:p>
          <a:p>
            <a:pPr>
              <a:buFont typeface=""/>
              <a:buChar char="•"/>
            </a:pPr>
            <a:r>
              <a:rPr lang="en-US" sz="1400">
                <a:latin typeface="Playfair Display"/>
              </a:rPr>
              <a:t>🌤 Weather Distribution </a:t>
            </a:r>
          </a:p>
          <a:p>
            <a:pPr>
              <a:buFont typeface=""/>
              <a:buChar char="•"/>
            </a:pPr>
            <a:r>
              <a:rPr lang="en-US" sz="1400">
                <a:latin typeface="Playfair Display"/>
              </a:rPr>
              <a:t>🌡 Temperature Analysis </a:t>
            </a:r>
          </a:p>
          <a:p>
            <a:pPr>
              <a:buFont typeface=""/>
              <a:buChar char="•"/>
            </a:pPr>
            <a:r>
              <a:rPr lang="en-US" sz="1400">
                <a:latin typeface="Playfair Display"/>
              </a:rPr>
              <a:t>💧 Humidity Analysis </a:t>
            </a:r>
          </a:p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EED477-14B5-F809-FDB0-FFABF7D4C421}"/>
              </a:ext>
            </a:extLst>
          </p:cNvPr>
          <p:cNvSpPr txBox="1"/>
          <p:nvPr/>
        </p:nvSpPr>
        <p:spPr>
          <a:xfrm>
            <a:off x="6799942" y="4198257"/>
            <a:ext cx="4644572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u="sng">
                <a:latin typeface="Playfair Display"/>
              </a:rPr>
              <a:t>🎯 Key Takeaways</a:t>
            </a:r>
          </a:p>
          <a:p>
            <a:pPr>
              <a:buFont typeface=""/>
              <a:buChar char="•"/>
            </a:pPr>
            <a:r>
              <a:rPr lang="en-US" sz="1400">
                <a:latin typeface="Playfair Display"/>
              </a:rPr>
              <a:t>Registered users contributed </a:t>
            </a:r>
            <a:r>
              <a:rPr lang="en-US" sz="1400" b="1">
                <a:latin typeface="Playfair Display"/>
              </a:rPr>
              <a:t>91.9%</a:t>
            </a:r>
            <a:r>
              <a:rPr lang="en-US" sz="1400">
                <a:latin typeface="Playfair Display"/>
              </a:rPr>
              <a:t> of total rentals. </a:t>
            </a:r>
          </a:p>
          <a:p>
            <a:pPr>
              <a:buFont typeface=""/>
              <a:buChar char="•"/>
            </a:pPr>
            <a:r>
              <a:rPr lang="en-US" sz="1400">
                <a:latin typeface="Playfair Display"/>
              </a:rPr>
              <a:t>Clear weather generated the highest rental activity. </a:t>
            </a:r>
          </a:p>
          <a:p>
            <a:pPr>
              <a:buFont typeface=""/>
              <a:buChar char="•"/>
            </a:pPr>
            <a:r>
              <a:rPr lang="en-US" sz="1400">
                <a:latin typeface="Playfair Display"/>
              </a:rPr>
              <a:t>Moderate temperatures resulted in the greatest rental demand. </a:t>
            </a:r>
          </a:p>
          <a:p>
            <a:pPr>
              <a:buFont typeface=""/>
              <a:buChar char="•"/>
            </a:pPr>
            <a:r>
              <a:rPr lang="en-US" sz="1400">
                <a:latin typeface="Playfair Display"/>
              </a:rPr>
              <a:t>Higher humidity was associated with lower rental activity. </a:t>
            </a:r>
          </a:p>
          <a:p>
            <a:pPr algn="ctr"/>
            <a:endParaRPr lang="en-GB" sz="1600" dirty="0">
              <a:latin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834936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0476EE4-52EB-2785-F791-F6C962A281D5}"/>
              </a:ext>
            </a:extLst>
          </p:cNvPr>
          <p:cNvSpPr txBox="1"/>
          <p:nvPr/>
        </p:nvSpPr>
        <p:spPr>
          <a:xfrm>
            <a:off x="362857" y="344714"/>
            <a:ext cx="6096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u="sng">
                <a:latin typeface="Playfair Display"/>
              </a:rPr>
              <a:t>Executive Dashboard</a:t>
            </a:r>
          </a:p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9046C4-D0B0-11E6-D89A-9617C9BDD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68" y="1231446"/>
            <a:ext cx="5837465" cy="49248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E1754B8-2478-5F6C-6DFA-EE696DC7F2A0}"/>
              </a:ext>
            </a:extLst>
          </p:cNvPr>
          <p:cNvSpPr txBox="1"/>
          <p:nvPr/>
        </p:nvSpPr>
        <p:spPr>
          <a:xfrm>
            <a:off x="6633028" y="1230086"/>
            <a:ext cx="5145315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Playfair Display"/>
              </a:rPr>
              <a:t>📊 Dashboard Purpose</a:t>
            </a:r>
            <a:endParaRPr lang="en-US">
              <a:latin typeface="Raleway"/>
            </a:endParaRPr>
          </a:p>
          <a:p>
            <a:r>
              <a:rPr lang="en-US" sz="1200">
                <a:latin typeface="Playfair Display"/>
                <a:ea typeface="+mn-lt"/>
                <a:cs typeface="+mn-lt"/>
              </a:rPr>
              <a:t>Provides an executive-level overview of bike-sharing performance by combining operational trends, customer insights, and key business metrics into a single dashboard.</a:t>
            </a:r>
            <a:endParaRPr lang="en-US">
              <a:latin typeface="Playfair Display"/>
              <a:ea typeface="+mn-lt"/>
              <a:cs typeface="+mn-lt"/>
            </a:endParaRPr>
          </a:p>
          <a:p>
            <a:pPr algn="ctr"/>
            <a:endParaRPr lang="en-GB" sz="1600" dirty="0">
              <a:latin typeface="Playfair Display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68D129-452C-83FA-7209-F52BAA8E9DB7}"/>
              </a:ext>
            </a:extLst>
          </p:cNvPr>
          <p:cNvSpPr txBox="1"/>
          <p:nvPr/>
        </p:nvSpPr>
        <p:spPr>
          <a:xfrm>
            <a:off x="6633029" y="2362200"/>
            <a:ext cx="5058229" cy="163121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Playfair Display"/>
              </a:rPr>
              <a:t>📌 Key Features</a:t>
            </a:r>
          </a:p>
          <a:p>
            <a:r>
              <a:rPr lang="en-US" sz="1400">
                <a:latin typeface="Playfair Display"/>
              </a:rPr>
              <a:t>📊 8 KPI Cards</a:t>
            </a:r>
          </a:p>
          <a:p>
            <a:r>
              <a:rPr lang="en-US" sz="1400">
                <a:latin typeface="Playfair Display"/>
              </a:rPr>
              <a:t>📈 Hourly Rental Trend</a:t>
            </a:r>
          </a:p>
          <a:p>
            <a:r>
              <a:rPr lang="en-US" sz="1400">
                <a:latin typeface="Playfair Display"/>
              </a:rPr>
              <a:t>🔥 Demand Heat Map</a:t>
            </a:r>
          </a:p>
          <a:p>
            <a:r>
              <a:rPr lang="en-US" sz="1400">
                <a:latin typeface="Playfair Display"/>
              </a:rPr>
              <a:t>📅 Weekday Performance</a:t>
            </a:r>
          </a:p>
          <a:p>
            <a:r>
              <a:rPr lang="en-US" sz="1400">
                <a:latin typeface="Playfair Display"/>
              </a:rPr>
              <a:t>📄 Executive Summary</a:t>
            </a:r>
          </a:p>
          <a:p>
            <a:r>
              <a:rPr lang="en-US" sz="1400">
                <a:latin typeface="Playfair Display"/>
              </a:rPr>
              <a:t>💡 Strategic Recommendations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4594F0-EACA-9723-E065-0C499A182718}"/>
              </a:ext>
            </a:extLst>
          </p:cNvPr>
          <p:cNvSpPr txBox="1"/>
          <p:nvPr/>
        </p:nvSpPr>
        <p:spPr>
          <a:xfrm>
            <a:off x="6633029" y="4249058"/>
            <a:ext cx="5058229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Playfair Display"/>
              </a:rPr>
              <a:t>🎯 Business Impact</a:t>
            </a:r>
          </a:p>
          <a:p>
            <a:pPr marL="285750" indent="-285750">
              <a:buFont typeface="Arial"/>
              <a:buChar char="•"/>
            </a:pPr>
            <a:r>
              <a:rPr lang="en-US" sz="1200">
                <a:latin typeface="Playfair Display"/>
                <a:ea typeface="+mn-lt"/>
                <a:cs typeface="+mn-lt"/>
              </a:rPr>
              <a:t>Enabled faster interpretation of business performance through interactive KPIs. </a:t>
            </a:r>
            <a:endParaRPr lang="en-US" sz="1200">
              <a:latin typeface="Playfair Display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latin typeface="Playfair Display"/>
                <a:ea typeface="+mn-lt"/>
                <a:cs typeface="+mn-lt"/>
              </a:rPr>
              <a:t>Identified peak rental periods for improved fleet planning. </a:t>
            </a:r>
            <a:endParaRPr lang="en-US" sz="1200">
              <a:latin typeface="Playfair Display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latin typeface="Playfair Display"/>
                <a:ea typeface="+mn-lt"/>
                <a:cs typeface="+mn-lt"/>
              </a:rPr>
              <a:t>Supported operational decisions using demand and customer insights. </a:t>
            </a:r>
            <a:endParaRPr lang="en-US" sz="1200">
              <a:latin typeface="Playfair Display"/>
            </a:endParaRPr>
          </a:p>
          <a:p>
            <a:pPr marL="285750" indent="-285750">
              <a:buFont typeface="Arial"/>
              <a:buChar char="•"/>
            </a:pPr>
            <a:r>
              <a:rPr lang="en-US" sz="1200">
                <a:latin typeface="Playfair Display"/>
                <a:ea typeface="+mn-lt"/>
                <a:cs typeface="+mn-lt"/>
              </a:rPr>
              <a:t>Presented actionable recommendations for business optimization. </a:t>
            </a:r>
            <a:endParaRPr lang="en-US" sz="1200">
              <a:latin typeface="Playfair Display"/>
            </a:endParaRPr>
          </a:p>
          <a:p>
            <a:endParaRPr lang="en-US" sz="1200" b="1" dirty="0">
              <a:latin typeface="Playfair Display"/>
            </a:endParaRP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627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18D7AAF-237F-1F13-09CE-FB0E4C4B4D1A}"/>
              </a:ext>
            </a:extLst>
          </p:cNvPr>
          <p:cNvSpPr txBox="1"/>
          <p:nvPr/>
        </p:nvSpPr>
        <p:spPr>
          <a:xfrm>
            <a:off x="3548743" y="315686"/>
            <a:ext cx="6096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buFont typeface=""/>
              <a:buNone/>
            </a:pPr>
            <a:r>
              <a:rPr lang="en-US" sz="4000" b="1" u="sng">
                <a:latin typeface="Playfair Display"/>
              </a:rPr>
              <a:t>Project Outcomes</a:t>
            </a:r>
          </a:p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378679-A311-C930-35A4-BE43DD9B34AB}"/>
              </a:ext>
            </a:extLst>
          </p:cNvPr>
          <p:cNvSpPr txBox="1"/>
          <p:nvPr/>
        </p:nvSpPr>
        <p:spPr>
          <a:xfrm>
            <a:off x="508000" y="1295400"/>
            <a:ext cx="55880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Playfair Display"/>
              </a:rPr>
              <a:t>📊 </a:t>
            </a:r>
            <a:r>
              <a:rPr lang="en-US" b="1" u="sng">
                <a:latin typeface="Playfair Display"/>
              </a:rPr>
              <a:t>Major Findings</a:t>
            </a:r>
          </a:p>
          <a:p>
            <a:r>
              <a:rPr lang="en-US" sz="1600">
                <a:latin typeface="Playfair Display"/>
                <a:ea typeface="+mn-lt"/>
                <a:cs typeface="+mn-lt"/>
              </a:rPr>
              <a:t>✔ </a:t>
            </a:r>
            <a:r>
              <a:rPr lang="en-US" sz="1600" b="1">
                <a:latin typeface="Playfair Display"/>
                <a:ea typeface="+mn-lt"/>
                <a:cs typeface="+mn-lt"/>
              </a:rPr>
              <a:t>Registered users accounted for 91.56% of total rentals</a:t>
            </a:r>
            <a:r>
              <a:rPr lang="en-US" sz="1600">
                <a:latin typeface="Playfair Display"/>
                <a:ea typeface="+mn-lt"/>
                <a:cs typeface="+mn-lt"/>
              </a:rPr>
              <a:t>, indicating a strong commuter-based customer base.</a:t>
            </a:r>
            <a:endParaRPr lang="en-US">
              <a:latin typeface="Playfair Display"/>
              <a:ea typeface="+mn-lt"/>
              <a:cs typeface="+mn-lt"/>
            </a:endParaRPr>
          </a:p>
          <a:p>
            <a:r>
              <a:rPr lang="en-US" sz="1600">
                <a:latin typeface="Playfair Display"/>
              </a:rPr>
              <a:t>✔ Bike rentals peaked during </a:t>
            </a:r>
            <a:r>
              <a:rPr lang="en-US" sz="1600" b="1">
                <a:latin typeface="Playfair Display"/>
              </a:rPr>
              <a:t>8:00 AM</a:t>
            </a:r>
            <a:r>
              <a:rPr lang="en-US" sz="1600">
                <a:latin typeface="Playfair Display"/>
              </a:rPr>
              <a:t> and </a:t>
            </a:r>
            <a:r>
              <a:rPr lang="en-US" sz="1600" b="1">
                <a:latin typeface="Playfair Display"/>
              </a:rPr>
              <a:t>5:00 PM</a:t>
            </a:r>
            <a:r>
              <a:rPr lang="en-US" sz="1600">
                <a:latin typeface="Playfair Display"/>
              </a:rPr>
              <a:t>, reflecting daily commuting patterns.</a:t>
            </a:r>
          </a:p>
          <a:p>
            <a:r>
              <a:rPr lang="en-US" sz="1600">
                <a:latin typeface="Playfair Display"/>
              </a:rPr>
              <a:t>✔ </a:t>
            </a:r>
            <a:r>
              <a:rPr lang="en-US" sz="1600" b="1">
                <a:latin typeface="Playfair Display"/>
              </a:rPr>
              <a:t>Friday</a:t>
            </a:r>
            <a:r>
              <a:rPr lang="en-US" sz="1600">
                <a:latin typeface="Playfair Display"/>
              </a:rPr>
              <a:t> recorded the highest average rental demand among all weekdays.</a:t>
            </a:r>
          </a:p>
          <a:p>
            <a:r>
              <a:rPr lang="en-US" sz="1600">
                <a:latin typeface="Playfair Display"/>
                <a:ea typeface="+mn-lt"/>
                <a:cs typeface="+mn-lt"/>
              </a:rPr>
              <a:t>✔ </a:t>
            </a:r>
            <a:r>
              <a:rPr lang="en-US" sz="1600" b="1">
                <a:latin typeface="Playfair Display"/>
                <a:ea typeface="+mn-lt"/>
                <a:cs typeface="+mn-lt"/>
              </a:rPr>
              <a:t>Clear weather</a:t>
            </a:r>
            <a:r>
              <a:rPr lang="en-US" sz="1600">
                <a:latin typeface="Playfair Display"/>
                <a:ea typeface="+mn-lt"/>
                <a:cs typeface="+mn-lt"/>
              </a:rPr>
              <a:t> generated the highest rental activity, while higher humidity reduced demand.</a:t>
            </a:r>
            <a:endParaRPr lang="en-US">
              <a:latin typeface="Playfair Display"/>
            </a:endParaRPr>
          </a:p>
          <a:p>
            <a:r>
              <a:rPr lang="en-US" sz="1600">
                <a:latin typeface="Playfair Display"/>
              </a:rPr>
              <a:t>✔ The dashboards successfully transformed raw rental data into actionable business insights.</a:t>
            </a:r>
          </a:p>
          <a:p>
            <a:pPr algn="ctr"/>
            <a:endParaRPr lang="en-GB" sz="2000" dirty="0">
              <a:latin typeface="Playfair Display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12DA72-E6CC-85EB-B9FE-4C778B41C814}"/>
              </a:ext>
            </a:extLst>
          </p:cNvPr>
          <p:cNvSpPr txBox="1"/>
          <p:nvPr/>
        </p:nvSpPr>
        <p:spPr>
          <a:xfrm>
            <a:off x="6720114" y="1411514"/>
            <a:ext cx="60960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u="sng">
                <a:latin typeface="Playfair Display"/>
              </a:rPr>
              <a:t>Skills Demonstrated</a:t>
            </a:r>
          </a:p>
          <a:p>
            <a:r>
              <a:rPr lang="en-US" sz="1600">
                <a:latin typeface="Playfair Display"/>
              </a:rPr>
              <a:t>📂 Data Cleaning &amp; Preparation</a:t>
            </a:r>
          </a:p>
          <a:p>
            <a:r>
              <a:rPr lang="en-US" sz="1600">
                <a:latin typeface="Playfair Display"/>
              </a:rPr>
              <a:t>📊 Exploratory Data Analysis (EDA)</a:t>
            </a:r>
          </a:p>
          <a:p>
            <a:r>
              <a:rPr lang="en-US" sz="1600">
                <a:latin typeface="Playfair Display"/>
              </a:rPr>
              <a:t>📈 Pivot Tables &amp; Pivot Charts</a:t>
            </a:r>
          </a:p>
          <a:p>
            <a:r>
              <a:rPr lang="en-US" sz="1600">
                <a:latin typeface="Playfair Display"/>
              </a:rPr>
              <a:t>🔍 Data Integration using XLOOKUP</a:t>
            </a:r>
          </a:p>
          <a:p>
            <a:r>
              <a:rPr lang="en-US" sz="1600">
                <a:latin typeface="Playfair Display"/>
              </a:rPr>
              <a:t>📋 Dashboard Design</a:t>
            </a:r>
          </a:p>
          <a:p>
            <a:r>
              <a:rPr lang="en-US" sz="1600">
                <a:latin typeface="Playfair Display"/>
              </a:rPr>
              <a:t>📉 Data Visualization</a:t>
            </a:r>
          </a:p>
          <a:p>
            <a:r>
              <a:rPr lang="en-US" sz="1600">
                <a:latin typeface="Playfair Display"/>
              </a:rPr>
              <a:t>💡 Business Analytics</a:t>
            </a:r>
          </a:p>
          <a:p>
            <a:r>
              <a:rPr lang="en-US" sz="1600">
                <a:latin typeface="Playfair Display"/>
              </a:rPr>
              <a:t>📑 Executive Reporting</a:t>
            </a:r>
          </a:p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71B041-C20D-6436-827F-37B3EFD283F5}"/>
              </a:ext>
            </a:extLst>
          </p:cNvPr>
          <p:cNvSpPr txBox="1"/>
          <p:nvPr/>
        </p:nvSpPr>
        <p:spPr>
          <a:xfrm>
            <a:off x="638628" y="4691742"/>
            <a:ext cx="9347200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Playfair Display"/>
              </a:rPr>
              <a:t>🌟 Project Achievement</a:t>
            </a:r>
            <a:endParaRPr lang="en-US">
              <a:latin typeface="Raleway"/>
            </a:endParaRPr>
          </a:p>
          <a:p>
            <a:r>
              <a:rPr lang="en-US" sz="1600">
                <a:latin typeface="Playfair Display"/>
              </a:rPr>
              <a:t>Successfully developed an end-to-end Excel analytics solution, transforming raw bike-sharing data into interactive dashboards that support data-driven business decisions.</a:t>
            </a:r>
            <a:endParaRPr lang="en-US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532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8C99E3C-B3B1-316D-43FC-B5C4A0202CD1}"/>
              </a:ext>
            </a:extLst>
          </p:cNvPr>
          <p:cNvSpPr txBox="1"/>
          <p:nvPr/>
        </p:nvSpPr>
        <p:spPr>
          <a:xfrm>
            <a:off x="500743" y="460829"/>
            <a:ext cx="1140097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u="sng">
                <a:latin typeface="Playfair Display"/>
              </a:rPr>
              <a:t>Conclusion</a:t>
            </a:r>
          </a:p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244690-6A2C-A1AC-6D17-0C6883ECCEEB}"/>
              </a:ext>
            </a:extLst>
          </p:cNvPr>
          <p:cNvSpPr txBox="1"/>
          <p:nvPr/>
        </p:nvSpPr>
        <p:spPr>
          <a:xfrm>
            <a:off x="500743" y="1433286"/>
            <a:ext cx="10704285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Playfair Display"/>
              </a:rPr>
              <a:t>Project Summary</a:t>
            </a:r>
          </a:p>
          <a:p>
            <a:r>
              <a:rPr lang="en-US" sz="1600">
                <a:latin typeface="Playfair Display"/>
              </a:rPr>
              <a:t>This project successfully transformed raw bike-sharing rental data into meaningful business insights through structured data analysis, interactive dashboards, and executive reporting. The findings demonstrated how customer behavior, operational demand, and environmental factors influence bike-sharing performance and support data-driven decision-making.</a:t>
            </a:r>
          </a:p>
          <a:p>
            <a:pPr algn="ctr"/>
            <a:endParaRPr lang="en-GB" dirty="0">
              <a:latin typeface="Playfair Display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9770E7-3824-C3FC-0E07-3158817715D0}"/>
              </a:ext>
            </a:extLst>
          </p:cNvPr>
          <p:cNvSpPr txBox="1"/>
          <p:nvPr/>
        </p:nvSpPr>
        <p:spPr>
          <a:xfrm>
            <a:off x="500743" y="3429000"/>
            <a:ext cx="10711544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Playfair Display"/>
              </a:rPr>
              <a:t>Future Scope</a:t>
            </a:r>
          </a:p>
          <a:p>
            <a:pPr>
              <a:buFont typeface=""/>
              <a:buChar char="•"/>
            </a:pPr>
            <a:r>
              <a:rPr lang="en-US" sz="1600">
                <a:latin typeface="Playfair Display"/>
              </a:rPr>
              <a:t>Develop interactive dashboards using </a:t>
            </a:r>
            <a:r>
              <a:rPr lang="en-US" sz="1600" b="1">
                <a:latin typeface="Playfair Display"/>
              </a:rPr>
              <a:t>Power BI</a:t>
            </a:r>
            <a:r>
              <a:rPr lang="en-US" sz="1600">
                <a:latin typeface="Playfair Display"/>
              </a:rPr>
              <a:t>. </a:t>
            </a:r>
          </a:p>
          <a:p>
            <a:pPr>
              <a:buFont typeface=""/>
              <a:buChar char="•"/>
            </a:pPr>
            <a:r>
              <a:rPr lang="en-US" sz="1600">
                <a:latin typeface="Playfair Display"/>
              </a:rPr>
              <a:t>Automate data preparation with </a:t>
            </a:r>
            <a:r>
              <a:rPr lang="en-US" sz="1600" b="1">
                <a:latin typeface="Playfair Display"/>
              </a:rPr>
              <a:t>Power Query</a:t>
            </a:r>
            <a:r>
              <a:rPr lang="en-US" sz="1600">
                <a:latin typeface="Playfair Display"/>
              </a:rPr>
              <a:t>. </a:t>
            </a:r>
            <a:endParaRPr lang="en-US" sz="1600">
              <a:latin typeface="Playfair Display"/>
              <a:ea typeface="+mn-lt"/>
              <a:cs typeface="+mn-lt"/>
            </a:endParaRPr>
          </a:p>
          <a:p>
            <a:pPr>
              <a:buFont typeface=""/>
              <a:buChar char="•"/>
            </a:pPr>
            <a:r>
              <a:rPr lang="en-US" sz="1600">
                <a:latin typeface="Playfair Display"/>
              </a:rPr>
              <a:t>Apply predictive analytics to forecast future rental demand. </a:t>
            </a:r>
          </a:p>
          <a:p>
            <a:pPr>
              <a:buFont typeface=""/>
              <a:buChar char="•"/>
            </a:pPr>
            <a:r>
              <a:rPr lang="en-US" sz="1600">
                <a:latin typeface="Playfair Display"/>
              </a:rPr>
              <a:t>Integrate real-time weather and operational data. </a:t>
            </a:r>
          </a:p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30868-7104-4555-9CC9-DADA85D09A36}"/>
              </a:ext>
            </a:extLst>
          </p:cNvPr>
          <p:cNvSpPr txBox="1"/>
          <p:nvPr/>
        </p:nvSpPr>
        <p:spPr>
          <a:xfrm>
            <a:off x="624114" y="5439229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>
                <a:latin typeface="Playfair Display"/>
              </a:rPr>
              <a:t>Thank You!</a:t>
            </a:r>
          </a:p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A29A60-8028-1A30-598B-DB4634BB87E0}"/>
              </a:ext>
            </a:extLst>
          </p:cNvPr>
          <p:cNvSpPr txBox="1"/>
          <p:nvPr/>
        </p:nvSpPr>
        <p:spPr>
          <a:xfrm>
            <a:off x="8157029" y="5707742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Playfair Display"/>
              </a:rPr>
              <a:t>Bhavdeep Kaur</a:t>
            </a:r>
          </a:p>
          <a:p>
            <a:r>
              <a:rPr lang="en-US" sz="1200" i="1" dirty="0" err="1">
                <a:latin typeface="Playfair Display"/>
              </a:rPr>
              <a:t>NextHikes</a:t>
            </a:r>
            <a:r>
              <a:rPr lang="en-US" sz="1200" i="1" dirty="0">
                <a:latin typeface="Playfair Display"/>
              </a:rPr>
              <a:t> Project </a:t>
            </a:r>
          </a:p>
          <a:p>
            <a:r>
              <a:rPr lang="en-US" sz="1200" i="1">
                <a:latin typeface="Playfair Display"/>
              </a:rPr>
              <a:t>Bike Sharing Data Analysis &amp; Executive Dashboard</a:t>
            </a:r>
            <a:endParaRPr lang="en-US" sz="1200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982638"/>
      </p:ext>
    </p:extLst>
  </p:cSld>
  <p:clrMapOvr>
    <a:masterClrMapping/>
  </p:clrMapOvr>
</p:sld>
</file>

<file path=ppt/theme/theme1.xml><?xml version="1.0" encoding="utf-8"?>
<a:theme xmlns:a="http://schemas.openxmlformats.org/drawingml/2006/main" name="Dark Academia">
  <a:themeElements>
    <a:clrScheme name="Custom 4">
      <a:dk1>
        <a:sysClr val="windowText" lastClr="000000"/>
      </a:dk1>
      <a:lt1>
        <a:srgbClr val="DFD2C4"/>
      </a:lt1>
      <a:dk2>
        <a:srgbClr val="2C3932"/>
      </a:dk2>
      <a:lt2>
        <a:srgbClr val="FFFFFF"/>
      </a:lt2>
      <a:accent1>
        <a:srgbClr val="DFD2C4"/>
      </a:accent1>
      <a:accent2>
        <a:srgbClr val="4B2B30"/>
      </a:accent2>
      <a:accent3>
        <a:srgbClr val="233343"/>
      </a:accent3>
      <a:accent4>
        <a:srgbClr val="5F3430"/>
      </a:accent4>
      <a:accent5>
        <a:srgbClr val="8296AA"/>
      </a:accent5>
      <a:accent6>
        <a:srgbClr val="631E13"/>
      </a:accent6>
      <a:hlink>
        <a:srgbClr val="D2BD9A"/>
      </a:hlink>
      <a:folHlink>
        <a:srgbClr val="C5D2CB"/>
      </a:folHlink>
    </a:clrScheme>
    <a:fontScheme name="Custom 10">
      <a:majorFont>
        <a:latin typeface="Playfair Display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Academia_Sales Presentation_win32_LW_V7" id="{533BF2EB-2BAD-4198-A303-6C5A3618DB67}" vid="{A686BBDF-92F9-4384-83C4-C0E135F23A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2BAF2CE-2C32-498E-B467-6C60C37679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81A4212-02C6-475D-B332-DC5017D045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185BFC-6E97-4C88-9034-F2A7ED1C005E}">
  <ds:schemaRefs>
    <ds:schemaRef ds:uri="230e9df3-be65-4c73-a93b-d1236ebd677e"/>
    <ds:schemaRef ds:uri="16c05727-aa75-4e4a-9b5f-8a80a1165891"/>
    <ds:schemaRef ds:uri="http://schemas.microsoft.com/sharepoint/v3"/>
    <ds:schemaRef ds:uri="http://www.w3.org/XML/1998/namespace"/>
    <ds:schemaRef ds:uri="71af3243-3dd4-4a8d-8c0d-dd76da1f02a5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528</Words>
  <Application>Microsoft Office PowerPoint</Application>
  <PresentationFormat>Widescreen</PresentationFormat>
  <Paragraphs>70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Dark Academia</vt:lpstr>
      <vt:lpstr>Bike Sharing Data Analysis &amp; Executive Dashboard</vt:lpstr>
      <vt:lpstr>Project Overview</vt:lpstr>
      <vt:lpstr>PowerPoint Presentation</vt:lpstr>
      <vt:lpstr>PowerPoint Presentation</vt:lpstr>
      <vt:lpstr>Quote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969</cp:revision>
  <dcterms:created xsi:type="dcterms:W3CDTF">2026-07-27T09:55:53Z</dcterms:created>
  <dcterms:modified xsi:type="dcterms:W3CDTF">2026-07-27T18:07:32Z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